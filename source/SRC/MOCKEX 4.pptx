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5" r:id="rId2"/>
    <p:sldId id="257" r:id="rId3"/>
    <p:sldId id="258" r:id="rId4"/>
    <p:sldId id="259" r:id="rId5"/>
    <p:sldId id="260" r:id="rId6"/>
    <p:sldId id="261" r:id="rId7"/>
    <p:sldId id="266" r:id="rId8"/>
    <p:sldId id="267" r:id="rId9"/>
    <p:sldId id="268" r:id="rId10"/>
    <p:sldId id="269" r:id="rId11"/>
    <p:sldId id="270" r:id="rId12"/>
    <p:sldId id="271" r:id="rId13"/>
    <p:sldId id="272" r:id="rId14"/>
    <p:sldId id="273" r:id="rId15"/>
    <p:sldId id="274" r:id="rId16"/>
    <p:sldId id="275" r:id="rId17"/>
    <p:sldId id="276" r:id="rId18"/>
    <p:sldId id="277" r:id="rId19"/>
    <p:sldId id="278" r:id="rId20"/>
    <p:sldId id="279"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6" d="100"/>
          <a:sy n="66" d="100"/>
        </p:scale>
        <p:origin x="-606" y="-108"/>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17CD8ED0-CA03-4F25-92B4-19346DCF8174}" type="datetimeFigureOut">
              <a:rPr lang="en-US" smtClean="0"/>
              <a:pPr/>
              <a:t>10/6/2018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9CFFAF3-E26D-4477-B9C1-56B58C975385}" type="slidenum">
              <a:rPr lang="en-GB" smtClean="0"/>
              <a:pPr/>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17CD8ED0-CA03-4F25-92B4-19346DCF8174}" type="datetimeFigureOut">
              <a:rPr lang="en-US" smtClean="0"/>
              <a:pPr/>
              <a:t>10/6/2018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9CFFAF3-E26D-4477-B9C1-56B58C975385}" type="slidenum">
              <a:rPr lang="en-GB" smtClean="0"/>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7CD8ED0-CA03-4F25-92B4-19346DCF8174}" type="datetimeFigureOut">
              <a:rPr lang="en-US" smtClean="0"/>
              <a:pPr/>
              <a:t>10/6/2018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9CFFAF3-E26D-4477-B9C1-56B58C975385}" type="slidenum">
              <a:rPr lang="en-GB" smtClean="0"/>
              <a:pPr/>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17CD8ED0-CA03-4F25-92B4-19346DCF8174}" type="datetimeFigureOut">
              <a:rPr lang="en-US" smtClean="0"/>
              <a:pPr/>
              <a:t>10/6/2018</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9CFFAF3-E26D-4477-B9C1-56B58C975385}" type="slidenum">
              <a:rPr lang="en-GB" smtClean="0"/>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17CD8ED0-CA03-4F25-92B4-19346DCF8174}" type="datetimeFigureOut">
              <a:rPr lang="en-US" smtClean="0"/>
              <a:pPr/>
              <a:t>10/6/2018</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59CFFAF3-E26D-4477-B9C1-56B58C975385}" type="slidenum">
              <a:rPr lang="en-GB" smtClean="0"/>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17CD8ED0-CA03-4F25-92B4-19346DCF8174}" type="datetimeFigureOut">
              <a:rPr lang="en-US" smtClean="0"/>
              <a:pPr/>
              <a:t>10/6/2018</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59CFFAF3-E26D-4477-B9C1-56B58C975385}" type="slidenum">
              <a:rPr lang="en-GB" smtClean="0"/>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7CD8ED0-CA03-4F25-92B4-19346DCF8174}" type="datetimeFigureOut">
              <a:rPr lang="en-US" smtClean="0"/>
              <a:pPr/>
              <a:t>10/6/2018</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59CFFAF3-E26D-4477-B9C1-56B58C975385}" type="slidenum">
              <a:rPr lang="en-GB" smtClean="0"/>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7CD8ED0-CA03-4F25-92B4-19346DCF8174}" type="datetimeFigureOut">
              <a:rPr lang="en-US" smtClean="0"/>
              <a:pPr/>
              <a:t>10/6/2018</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9CFFAF3-E26D-4477-B9C1-56B58C975385}" type="slidenum">
              <a:rPr lang="en-GB" smtClean="0"/>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7CD8ED0-CA03-4F25-92B4-19346DCF8174}" type="datetimeFigureOut">
              <a:rPr lang="en-US" smtClean="0"/>
              <a:pPr/>
              <a:t>10/6/2018</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9CFFAF3-E26D-4477-B9C1-56B58C975385}" type="slidenum">
              <a:rPr lang="en-GB" smtClean="0"/>
              <a:pPr/>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17CD8ED0-CA03-4F25-92B4-19346DCF8174}" type="datetimeFigureOut">
              <a:rPr lang="en-US" smtClean="0"/>
              <a:pPr/>
              <a:t>10/6/2018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9CFFAF3-E26D-4477-B9C1-56B58C975385}" type="slidenum">
              <a:rPr lang="en-GB" smtClean="0"/>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17CD8ED0-CA03-4F25-92B4-19346DCF8174}" type="datetimeFigureOut">
              <a:rPr lang="en-US" smtClean="0"/>
              <a:pPr/>
              <a:t>10/6/2018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9CFFAF3-E26D-4477-B9C1-56B58C975385}" type="slidenum">
              <a:rPr lang="en-GB" smtClean="0"/>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CD8ED0-CA03-4F25-92B4-19346DCF8174}" type="datetimeFigureOut">
              <a:rPr lang="en-US" smtClean="0"/>
              <a:pPr/>
              <a:t>10/6/2018</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CFFAF3-E26D-4477-B9C1-56B58C975385}" type="slidenum">
              <a:rPr lang="en-GB" smtClean="0"/>
              <a:pPr/>
              <a:t>‹#›</a:t>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7158" y="1357298"/>
            <a:ext cx="8429684" cy="5214974"/>
          </a:xfrm>
        </p:spPr>
        <p:txBody>
          <a:bodyPr>
            <a:normAutofit fontScale="90000"/>
          </a:bodyPr>
          <a:lstStyle/>
          <a:p>
            <a:pPr algn="l"/>
            <a:r>
              <a:rPr lang="en-GB" sz="2800" b="1" dirty="0" smtClean="0"/>
              <a:t>                                            </a:t>
            </a:r>
            <a:r>
              <a:rPr lang="en-GB" sz="2700" b="1" dirty="0" smtClean="0"/>
              <a:t>Question 1</a:t>
            </a:r>
            <a:br>
              <a:rPr lang="en-GB" sz="2700" b="1" dirty="0" smtClean="0"/>
            </a:br>
            <a:r>
              <a:rPr lang="en-GB" sz="2700" b="1" dirty="0" smtClean="0"/>
              <a:t>In which one of the following  scenarios would  a skipper  be committing  an offence under the Tourism Authority Act 2006?</a:t>
            </a:r>
            <a:br>
              <a:rPr lang="en-GB" sz="2700" b="1" dirty="0" smtClean="0"/>
            </a:br>
            <a:r>
              <a:rPr lang="en-GB" sz="2700" b="1" dirty="0" smtClean="0"/>
              <a:t/>
            </a:r>
            <a:br>
              <a:rPr lang="en-GB" sz="2700" b="1" dirty="0" smtClean="0"/>
            </a:br>
            <a:r>
              <a:rPr lang="en-GB" sz="2700" b="1" dirty="0" smtClean="0"/>
              <a:t>A    </a:t>
            </a:r>
            <a:r>
              <a:rPr lang="en-GB" sz="2700" dirty="0" smtClean="0"/>
              <a:t>operating a pleasure craft  without a second person onboard to do lookout duties</a:t>
            </a:r>
            <a:br>
              <a:rPr lang="en-GB" sz="2700" dirty="0" smtClean="0"/>
            </a:br>
            <a:r>
              <a:rPr lang="en-GB" sz="2700" b="1" dirty="0" smtClean="0"/>
              <a:t/>
            </a:r>
            <a:br>
              <a:rPr lang="en-GB" sz="2700" b="1" dirty="0" smtClean="0"/>
            </a:br>
            <a:r>
              <a:rPr lang="en-GB" sz="2700" b="1" dirty="0" smtClean="0"/>
              <a:t>B   </a:t>
            </a:r>
            <a:r>
              <a:rPr lang="en-GB" sz="2700" dirty="0" smtClean="0"/>
              <a:t>operating a pleasure craft not equipped with navigational lights during a moonlit night </a:t>
            </a:r>
            <a:br>
              <a:rPr lang="en-GB" sz="2700" dirty="0" smtClean="0"/>
            </a:br>
            <a:r>
              <a:rPr lang="en-GB" sz="2700" b="1" dirty="0" smtClean="0"/>
              <a:t/>
            </a:r>
            <a:br>
              <a:rPr lang="en-GB" sz="2700" b="1" dirty="0" smtClean="0"/>
            </a:br>
            <a:r>
              <a:rPr lang="en-GB" sz="2700" b="1" dirty="0" smtClean="0"/>
              <a:t>C   </a:t>
            </a:r>
            <a:r>
              <a:rPr lang="en-GB" sz="2700" dirty="0" smtClean="0"/>
              <a:t>operating a pleasure craft at 27 knots in open seas when no other craft is in sight</a:t>
            </a:r>
            <a:br>
              <a:rPr lang="en-GB" sz="2700" dirty="0" smtClean="0"/>
            </a:br>
            <a:r>
              <a:rPr lang="en-GB" sz="2700" b="1" dirty="0" smtClean="0"/>
              <a:t/>
            </a:r>
            <a:br>
              <a:rPr lang="en-GB" sz="2700" b="1" dirty="0" smtClean="0"/>
            </a:br>
            <a:r>
              <a:rPr lang="en-GB" sz="2700" b="1" dirty="0" smtClean="0"/>
              <a:t>D </a:t>
            </a:r>
            <a:r>
              <a:rPr lang="en-GB" sz="2700" dirty="0" smtClean="0"/>
              <a:t>  operating a pleasure craft  at  21.5 nautical miles off the shore of </a:t>
            </a:r>
            <a:r>
              <a:rPr lang="en-GB" sz="2700" dirty="0" err="1" smtClean="0"/>
              <a:t>Flic</a:t>
            </a:r>
            <a:r>
              <a:rPr lang="en-GB" sz="2700" dirty="0" smtClean="0"/>
              <a:t> en </a:t>
            </a:r>
            <a:r>
              <a:rPr lang="en-GB" sz="2700" dirty="0" err="1" smtClean="0"/>
              <a:t>Flac</a:t>
            </a:r>
            <a:r>
              <a:rPr lang="en-GB" sz="2700" dirty="0" smtClean="0"/>
              <a:t> being holder of a Category B skipper’s licence </a:t>
            </a:r>
            <a:br>
              <a:rPr lang="en-GB" sz="2700" dirty="0" smtClean="0"/>
            </a:br>
            <a:r>
              <a:rPr lang="en-GB" dirty="0" smtClean="0"/>
              <a:t/>
            </a:r>
            <a:br>
              <a:rPr lang="en-GB" dirty="0" smtClean="0"/>
            </a:br>
            <a:endParaRPr lang="en-GB" dirty="0"/>
          </a:p>
        </p:txBody>
      </p:sp>
      <p:sp>
        <p:nvSpPr>
          <p:cNvPr id="3" name="Subtitle 2"/>
          <p:cNvSpPr>
            <a:spLocks noGrp="1"/>
          </p:cNvSpPr>
          <p:nvPr>
            <p:ph type="subTitle" idx="1"/>
          </p:nvPr>
        </p:nvSpPr>
        <p:spPr>
          <a:xfrm flipH="1">
            <a:off x="9501222" y="5786454"/>
            <a:ext cx="785818" cy="785818"/>
          </a:xfrm>
        </p:spPr>
        <p:txBody>
          <a:bodyPr/>
          <a:lstStyle/>
          <a:p>
            <a:endParaRPr lang="en-GB"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85720" y="285728"/>
            <a:ext cx="8501122" cy="6286543"/>
          </a:xfrm>
        </p:spPr>
        <p:txBody>
          <a:bodyPr>
            <a:normAutofit fontScale="90000"/>
          </a:bodyPr>
          <a:lstStyle/>
          <a:p>
            <a:pPr algn="l"/>
            <a:r>
              <a:rPr lang="en-GB" sz="2400" b="1" dirty="0"/>
              <a:t/>
            </a:r>
            <a:br>
              <a:rPr lang="en-GB" sz="2400" b="1" dirty="0"/>
            </a:br>
            <a:r>
              <a:rPr lang="en-GB" sz="2400" b="1" dirty="0" smtClean="0"/>
              <a:t/>
            </a:r>
            <a:br>
              <a:rPr lang="en-GB" sz="2400" b="1" dirty="0" smtClean="0"/>
            </a:br>
            <a:r>
              <a:rPr lang="en-GB" sz="2400" b="1" dirty="0"/>
              <a:t/>
            </a:r>
            <a:br>
              <a:rPr lang="en-GB" sz="2400" b="1" dirty="0"/>
            </a:br>
            <a:r>
              <a:rPr lang="en-GB" sz="2400" b="1" dirty="0" smtClean="0"/>
              <a:t/>
            </a:r>
            <a:br>
              <a:rPr lang="en-GB" sz="2400" b="1" dirty="0" smtClean="0"/>
            </a:br>
            <a:r>
              <a:rPr lang="en-GB" sz="2400" b="1" dirty="0"/>
              <a:t/>
            </a:r>
            <a:br>
              <a:rPr lang="en-GB" sz="2400" b="1" dirty="0"/>
            </a:br>
            <a:r>
              <a:rPr lang="en-GB" sz="2400" b="1" dirty="0" smtClean="0"/>
              <a:t/>
            </a:r>
            <a:br>
              <a:rPr lang="en-GB" sz="2400" b="1" dirty="0" smtClean="0"/>
            </a:br>
            <a:r>
              <a:rPr lang="en-GB" sz="2400" b="1" dirty="0"/>
              <a:t/>
            </a:r>
            <a:br>
              <a:rPr lang="en-GB" sz="2400" b="1" dirty="0"/>
            </a:br>
            <a:r>
              <a:rPr lang="en-GB" sz="2400" b="1" dirty="0" smtClean="0"/>
              <a:t/>
            </a:r>
            <a:br>
              <a:rPr lang="en-GB" sz="2400" b="1" dirty="0" smtClean="0"/>
            </a:br>
            <a:r>
              <a:rPr lang="en-GB" sz="2400" b="1" dirty="0" smtClean="0"/>
              <a:t/>
            </a:r>
            <a:br>
              <a:rPr lang="en-GB" sz="2400" b="1" dirty="0" smtClean="0"/>
            </a:br>
            <a:r>
              <a:rPr lang="en-GB" sz="2400" b="1" dirty="0" smtClean="0"/>
              <a:t/>
            </a:r>
            <a:br>
              <a:rPr lang="en-GB" sz="2400" b="1" dirty="0" smtClean="0"/>
            </a:br>
            <a:r>
              <a:rPr lang="en-GB" sz="2400" b="1" dirty="0"/>
              <a:t/>
            </a:r>
            <a:br>
              <a:rPr lang="en-GB" sz="2400" b="1" dirty="0"/>
            </a:br>
            <a:r>
              <a:rPr lang="en-GB" sz="2400" b="1" dirty="0" smtClean="0"/>
              <a:t/>
            </a:r>
            <a:br>
              <a:rPr lang="en-GB" sz="2400" b="1" dirty="0" smtClean="0"/>
            </a:br>
            <a:r>
              <a:rPr lang="en-GB" sz="2400" b="1" dirty="0"/>
              <a:t/>
            </a:r>
            <a:br>
              <a:rPr lang="en-GB" sz="2400" b="1" dirty="0"/>
            </a:br>
            <a:r>
              <a:rPr lang="en-GB" sz="2700" b="1" dirty="0" smtClean="0"/>
              <a:t>                                                    Question 2</a:t>
            </a:r>
            <a:br>
              <a:rPr lang="en-GB" sz="2700" b="1" dirty="0" smtClean="0"/>
            </a:br>
            <a:r>
              <a:rPr lang="en-GB" sz="2700" b="1" dirty="0"/>
              <a:t/>
            </a:r>
            <a:br>
              <a:rPr lang="en-GB" sz="2700" b="1" dirty="0"/>
            </a:br>
            <a:r>
              <a:rPr lang="en-GB" sz="2700" b="1" dirty="0" smtClean="0"/>
              <a:t/>
            </a:r>
            <a:br>
              <a:rPr lang="en-GB" sz="2700" b="1" dirty="0" smtClean="0"/>
            </a:br>
            <a:r>
              <a:rPr lang="en-GB" sz="2700" b="1" dirty="0"/>
              <a:t/>
            </a:r>
            <a:br>
              <a:rPr lang="en-GB" sz="2700" b="1" dirty="0"/>
            </a:br>
            <a:r>
              <a:rPr lang="en-GB" sz="2700" b="1" dirty="0" smtClean="0"/>
              <a:t/>
            </a:r>
            <a:br>
              <a:rPr lang="en-GB" sz="2700" b="1" dirty="0" smtClean="0"/>
            </a:br>
            <a:r>
              <a:rPr lang="en-GB" sz="2700" b="1" dirty="0"/>
              <a:t/>
            </a:r>
            <a:br>
              <a:rPr lang="en-GB" sz="2700" b="1" dirty="0"/>
            </a:br>
            <a:r>
              <a:rPr lang="en-GB" sz="2700" b="1" dirty="0" smtClean="0"/>
              <a:t/>
            </a:r>
            <a:br>
              <a:rPr lang="en-GB" sz="2700" b="1" dirty="0" smtClean="0"/>
            </a:br>
            <a:r>
              <a:rPr lang="en-GB" sz="2700" b="1" dirty="0"/>
              <a:t/>
            </a:r>
            <a:br>
              <a:rPr lang="en-GB" sz="2700" b="1" dirty="0"/>
            </a:br>
            <a:r>
              <a:rPr lang="en-GB" sz="2700" b="1" dirty="0" smtClean="0"/>
              <a:t/>
            </a:r>
            <a:br>
              <a:rPr lang="en-GB" sz="2700" b="1" dirty="0" smtClean="0"/>
            </a:br>
            <a:r>
              <a:rPr lang="en-GB" sz="2700" b="1" dirty="0" smtClean="0"/>
              <a:t>When reporting the position of your craft at sea  by the use of this magnetic compass, you need to mention the  correct direction  with respect to the lighthouse as</a:t>
            </a:r>
            <a:br>
              <a:rPr lang="en-GB" sz="2700" b="1" dirty="0" smtClean="0"/>
            </a:br>
            <a:r>
              <a:rPr lang="en-GB" sz="2700" b="1" dirty="0" smtClean="0"/>
              <a:t/>
            </a:r>
            <a:br>
              <a:rPr lang="en-GB" sz="2700" b="1" dirty="0" smtClean="0"/>
            </a:br>
            <a:r>
              <a:rPr lang="en-GB" sz="2700" b="1" dirty="0" smtClean="0"/>
              <a:t>A    </a:t>
            </a:r>
            <a:r>
              <a:rPr lang="en-GB" sz="2700" dirty="0" smtClean="0"/>
              <a:t>345 C</a:t>
            </a:r>
            <a:r>
              <a:rPr lang="en-GB" sz="2700" b="1" dirty="0" smtClean="0"/>
              <a:t/>
            </a:r>
            <a:br>
              <a:rPr lang="en-GB" sz="2700" b="1" dirty="0" smtClean="0"/>
            </a:br>
            <a:r>
              <a:rPr lang="en-GB" sz="2700" b="1" dirty="0" smtClean="0"/>
              <a:t>B    </a:t>
            </a:r>
            <a:r>
              <a:rPr lang="en-GB" sz="2700" dirty="0" smtClean="0"/>
              <a:t>185 C</a:t>
            </a:r>
            <a:r>
              <a:rPr lang="en-GB" sz="2700" b="1" dirty="0" smtClean="0"/>
              <a:t/>
            </a:r>
            <a:br>
              <a:rPr lang="en-GB" sz="2700" b="1" dirty="0" smtClean="0"/>
            </a:br>
            <a:r>
              <a:rPr lang="en-GB" sz="2700" b="1" dirty="0" smtClean="0"/>
              <a:t>C    </a:t>
            </a:r>
            <a:r>
              <a:rPr lang="en-GB" sz="2700" dirty="0" smtClean="0"/>
              <a:t>350 C</a:t>
            </a:r>
            <a:r>
              <a:rPr lang="en-GB" sz="2700" b="1" dirty="0" smtClean="0"/>
              <a:t/>
            </a:r>
            <a:br>
              <a:rPr lang="en-GB" sz="2700" b="1" dirty="0" smtClean="0"/>
            </a:br>
            <a:r>
              <a:rPr lang="en-GB" sz="2700" b="1" dirty="0" smtClean="0"/>
              <a:t>D    </a:t>
            </a:r>
            <a:r>
              <a:rPr lang="en-GB" sz="2700" dirty="0" smtClean="0"/>
              <a:t>165 C</a:t>
            </a:r>
            <a:r>
              <a:rPr lang="en-GB" sz="2700" b="1" dirty="0" smtClean="0"/>
              <a:t/>
            </a:r>
            <a:br>
              <a:rPr lang="en-GB" sz="2700" b="1" dirty="0" smtClean="0"/>
            </a:br>
            <a:r>
              <a:rPr lang="en-GB" sz="2400" b="1" dirty="0"/>
              <a:t/>
            </a:r>
            <a:br>
              <a:rPr lang="en-GB" sz="2400" b="1" dirty="0"/>
            </a:br>
            <a:r>
              <a:rPr lang="en-GB" sz="2400" b="1" dirty="0" smtClean="0"/>
              <a:t/>
            </a:r>
            <a:br>
              <a:rPr lang="en-GB" sz="2400" b="1" dirty="0" smtClean="0"/>
            </a:br>
            <a:r>
              <a:rPr lang="en-GB" sz="2400" b="1" dirty="0"/>
              <a:t/>
            </a:r>
            <a:br>
              <a:rPr lang="en-GB" sz="2400" b="1" dirty="0"/>
            </a:br>
            <a:r>
              <a:rPr lang="en-GB" sz="2400" b="1" dirty="0" smtClean="0"/>
              <a:t/>
            </a:r>
            <a:br>
              <a:rPr lang="en-GB" sz="2400" b="1" dirty="0" smtClean="0"/>
            </a:br>
            <a:r>
              <a:rPr lang="en-GB" sz="2400" b="1" dirty="0" smtClean="0"/>
              <a:t/>
            </a:r>
            <a:br>
              <a:rPr lang="en-GB" sz="2400" b="1" dirty="0" smtClean="0"/>
            </a:br>
            <a:r>
              <a:rPr lang="en-GB" sz="2400" b="1" dirty="0" smtClean="0"/>
              <a:t/>
            </a:r>
            <a:br>
              <a:rPr lang="en-GB" sz="2400" b="1" dirty="0" smtClean="0"/>
            </a:br>
            <a:r>
              <a:rPr lang="en-GB" sz="2400" b="1" dirty="0" smtClean="0"/>
              <a:t/>
            </a:r>
            <a:br>
              <a:rPr lang="en-GB" sz="2400" b="1" dirty="0" smtClean="0"/>
            </a:br>
            <a:r>
              <a:rPr lang="en-GB" sz="2400" b="1" dirty="0" smtClean="0"/>
              <a:t/>
            </a:r>
            <a:br>
              <a:rPr lang="en-GB" sz="2400" b="1" dirty="0" smtClean="0"/>
            </a:br>
            <a:r>
              <a:rPr lang="en-GB" sz="2400" b="1" dirty="0" smtClean="0"/>
              <a:t/>
            </a:r>
            <a:br>
              <a:rPr lang="en-GB" sz="2400" b="1" dirty="0" smtClean="0"/>
            </a:br>
            <a:r>
              <a:rPr lang="en-GB" sz="2400" b="1" dirty="0" smtClean="0"/>
              <a:t/>
            </a:r>
            <a:br>
              <a:rPr lang="en-GB" sz="2400" b="1" dirty="0" smtClean="0"/>
            </a:br>
            <a:r>
              <a:rPr lang="en-GB" sz="2400" b="1" dirty="0" smtClean="0"/>
              <a:t/>
            </a:r>
            <a:br>
              <a:rPr lang="en-GB" sz="2400" b="1" dirty="0" smtClean="0"/>
            </a:br>
            <a:r>
              <a:rPr lang="en-GB" sz="2400" b="1" dirty="0" smtClean="0"/>
              <a:t/>
            </a:r>
            <a:br>
              <a:rPr lang="en-GB" sz="2400" b="1" dirty="0" smtClean="0"/>
            </a:br>
            <a:r>
              <a:rPr lang="en-GB" sz="2400" b="1" dirty="0" smtClean="0"/>
              <a:t/>
            </a:r>
            <a:br>
              <a:rPr lang="en-GB" sz="2400" b="1" dirty="0" smtClean="0"/>
            </a:br>
            <a:r>
              <a:rPr lang="en-GB" sz="2400" b="1" dirty="0" smtClean="0"/>
              <a:t/>
            </a:r>
            <a:br>
              <a:rPr lang="en-GB" sz="2400" b="1" dirty="0" smtClean="0"/>
            </a:br>
            <a:endParaRPr lang="en-GB" sz="2400" b="1" dirty="0"/>
          </a:p>
        </p:txBody>
      </p:sp>
      <p:sp>
        <p:nvSpPr>
          <p:cNvPr id="3" name="Subtitle 2"/>
          <p:cNvSpPr>
            <a:spLocks noGrp="1"/>
          </p:cNvSpPr>
          <p:nvPr>
            <p:ph type="subTitle" idx="1"/>
          </p:nvPr>
        </p:nvSpPr>
        <p:spPr>
          <a:xfrm flipH="1">
            <a:off x="9929850" y="3886200"/>
            <a:ext cx="500066" cy="1752600"/>
          </a:xfrm>
        </p:spPr>
        <p:txBody>
          <a:bodyPr/>
          <a:lstStyle/>
          <a:p>
            <a:endParaRPr lang="en-GB" dirty="0"/>
          </a:p>
        </p:txBody>
      </p:sp>
      <p:pic>
        <p:nvPicPr>
          <p:cNvPr id="1026" name="Picture 2" descr="C:\Users\lifebook\Downloads\download (2).jpg"/>
          <p:cNvPicPr>
            <a:picLocks noChangeAspect="1" noChangeArrowheads="1"/>
          </p:cNvPicPr>
          <p:nvPr/>
        </p:nvPicPr>
        <p:blipFill>
          <a:blip r:embed="rId2"/>
          <a:srcRect/>
          <a:stretch>
            <a:fillRect/>
          </a:stretch>
        </p:blipFill>
        <p:spPr bwMode="auto">
          <a:xfrm>
            <a:off x="3428992" y="571480"/>
            <a:ext cx="2357454" cy="2543175"/>
          </a:xfrm>
          <a:prstGeom prst="rect">
            <a:avLst/>
          </a:prstGeom>
          <a:noFill/>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7158" y="357166"/>
            <a:ext cx="8429684" cy="6215105"/>
          </a:xfrm>
        </p:spPr>
        <p:txBody>
          <a:bodyPr>
            <a:normAutofit/>
          </a:bodyPr>
          <a:lstStyle/>
          <a:p>
            <a:pPr algn="l"/>
            <a:r>
              <a:rPr lang="en-GB" sz="2800" b="1" dirty="0" smtClean="0"/>
              <a:t>                                       Question 3</a:t>
            </a:r>
            <a:br>
              <a:rPr lang="en-GB" sz="2800" b="1" dirty="0" smtClean="0"/>
            </a:br>
            <a:r>
              <a:rPr lang="en-GB" sz="2800" b="1" dirty="0" smtClean="0"/>
              <a:t/>
            </a:r>
            <a:br>
              <a:rPr lang="en-GB" sz="2800" b="1" dirty="0" smtClean="0"/>
            </a:br>
            <a:r>
              <a:rPr lang="en-GB" sz="2800" b="1" dirty="0" smtClean="0"/>
              <a:t>‘Bilge’ of a vessel refers to</a:t>
            </a:r>
            <a:br>
              <a:rPr lang="en-GB" sz="2800" b="1" dirty="0" smtClean="0"/>
            </a:br>
            <a:r>
              <a:rPr lang="en-GB" sz="2800" b="1" dirty="0" smtClean="0"/>
              <a:t/>
            </a:r>
            <a:br>
              <a:rPr lang="en-GB" sz="2800" b="1" dirty="0" smtClean="0"/>
            </a:br>
            <a:r>
              <a:rPr lang="en-GB" sz="2800" b="1" dirty="0" smtClean="0"/>
              <a:t>A </a:t>
            </a:r>
            <a:r>
              <a:rPr lang="en-GB" sz="2800" dirty="0" smtClean="0"/>
              <a:t> the submerged part when afloat</a:t>
            </a:r>
            <a:br>
              <a:rPr lang="en-GB" sz="2800" dirty="0" smtClean="0"/>
            </a:br>
            <a:r>
              <a:rPr lang="en-GB" sz="2800" b="1" dirty="0" smtClean="0"/>
              <a:t/>
            </a:r>
            <a:br>
              <a:rPr lang="en-GB" sz="2800" b="1" dirty="0" smtClean="0"/>
            </a:br>
            <a:r>
              <a:rPr lang="en-GB" sz="2800" b="1" dirty="0" smtClean="0"/>
              <a:t>B  </a:t>
            </a:r>
            <a:r>
              <a:rPr lang="en-GB" sz="2800" dirty="0" smtClean="0"/>
              <a:t>the lowest section inside the vessel which is closest to the keel</a:t>
            </a:r>
            <a:br>
              <a:rPr lang="en-GB" sz="2800" dirty="0" smtClean="0"/>
            </a:br>
            <a:r>
              <a:rPr lang="en-GB" sz="2800" b="1" dirty="0" smtClean="0"/>
              <a:t/>
            </a:r>
            <a:br>
              <a:rPr lang="en-GB" sz="2800" b="1" dirty="0" smtClean="0"/>
            </a:br>
            <a:r>
              <a:rPr lang="en-GB" sz="2800" b="1" dirty="0" smtClean="0"/>
              <a:t>C   </a:t>
            </a:r>
            <a:r>
              <a:rPr lang="en-GB" sz="2800" dirty="0" smtClean="0"/>
              <a:t>the vertical height between the waterline and the keel</a:t>
            </a:r>
            <a:br>
              <a:rPr lang="en-GB" sz="2800" dirty="0" smtClean="0"/>
            </a:br>
            <a:r>
              <a:rPr lang="en-GB" sz="2800" b="1" dirty="0" smtClean="0"/>
              <a:t/>
            </a:r>
            <a:br>
              <a:rPr lang="en-GB" sz="2800" b="1" dirty="0" smtClean="0"/>
            </a:br>
            <a:r>
              <a:rPr lang="en-GB" sz="2800" b="1" dirty="0" smtClean="0"/>
              <a:t>D  </a:t>
            </a:r>
            <a:r>
              <a:rPr lang="en-GB" sz="2800" dirty="0" smtClean="0"/>
              <a:t>the width of the weather deck</a:t>
            </a:r>
            <a:endParaRPr lang="en-GB" sz="2800" b="1" dirty="0"/>
          </a:p>
        </p:txBody>
      </p:sp>
      <p:sp>
        <p:nvSpPr>
          <p:cNvPr id="3" name="Subtitle 2"/>
          <p:cNvSpPr>
            <a:spLocks noGrp="1"/>
          </p:cNvSpPr>
          <p:nvPr>
            <p:ph type="subTitle" idx="1"/>
          </p:nvPr>
        </p:nvSpPr>
        <p:spPr>
          <a:xfrm flipH="1">
            <a:off x="9501222" y="3886200"/>
            <a:ext cx="1571636" cy="1752600"/>
          </a:xfrm>
        </p:spPr>
        <p:txBody>
          <a:bodyPr/>
          <a:lstStyle/>
          <a:p>
            <a:endParaRPr lang="en-GB"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7158" y="285728"/>
            <a:ext cx="8358246" cy="6215105"/>
          </a:xfrm>
        </p:spPr>
        <p:txBody>
          <a:bodyPr>
            <a:normAutofit/>
          </a:bodyPr>
          <a:lstStyle/>
          <a:p>
            <a:pPr algn="l"/>
            <a:r>
              <a:rPr lang="en-GB" sz="2800" b="1" dirty="0" smtClean="0"/>
              <a:t>                                        Question 4</a:t>
            </a:r>
            <a:br>
              <a:rPr lang="en-GB" sz="2800" b="1" dirty="0" smtClean="0"/>
            </a:br>
            <a:r>
              <a:rPr lang="en-GB" sz="2800" b="1" dirty="0" smtClean="0"/>
              <a:t/>
            </a:r>
            <a:br>
              <a:rPr lang="en-GB" sz="2800" b="1" dirty="0" smtClean="0"/>
            </a:br>
            <a:r>
              <a:rPr lang="en-GB" sz="2800" b="1" dirty="0" smtClean="0"/>
              <a:t>How much distance will a  pleasure craft cover in 1 h 15 minutes at a constant speed of 16 knots ?</a:t>
            </a:r>
            <a:br>
              <a:rPr lang="en-GB" sz="2800" b="1" dirty="0" smtClean="0"/>
            </a:br>
            <a:r>
              <a:rPr lang="en-GB" sz="2800" b="1" dirty="0" smtClean="0"/>
              <a:t/>
            </a:r>
            <a:br>
              <a:rPr lang="en-GB" sz="2800" b="1" dirty="0" smtClean="0"/>
            </a:br>
            <a:r>
              <a:rPr lang="en-GB" sz="2800" b="1" dirty="0" smtClean="0"/>
              <a:t>A    </a:t>
            </a:r>
            <a:r>
              <a:rPr lang="en-GB" sz="2800" dirty="0" smtClean="0"/>
              <a:t>12 nautical miles</a:t>
            </a:r>
            <a:r>
              <a:rPr lang="en-GB" sz="2800" b="1" dirty="0" smtClean="0"/>
              <a:t/>
            </a:r>
            <a:br>
              <a:rPr lang="en-GB" sz="2800" b="1" dirty="0" smtClean="0"/>
            </a:br>
            <a:r>
              <a:rPr lang="en-GB" sz="2800" b="1" dirty="0" smtClean="0"/>
              <a:t>B    </a:t>
            </a:r>
            <a:r>
              <a:rPr lang="en-GB" sz="2800" dirty="0" smtClean="0"/>
              <a:t>16 nautical miles</a:t>
            </a:r>
            <a:r>
              <a:rPr lang="en-GB" sz="2800" b="1" dirty="0" smtClean="0"/>
              <a:t/>
            </a:r>
            <a:br>
              <a:rPr lang="en-GB" sz="2800" b="1" dirty="0" smtClean="0"/>
            </a:br>
            <a:r>
              <a:rPr lang="en-GB" sz="2800" b="1" dirty="0" smtClean="0"/>
              <a:t>C    </a:t>
            </a:r>
            <a:r>
              <a:rPr lang="en-GB" sz="2800" dirty="0" smtClean="0"/>
              <a:t>20 nautical miles</a:t>
            </a:r>
            <a:r>
              <a:rPr lang="en-GB" sz="2800" b="1" dirty="0" smtClean="0"/>
              <a:t/>
            </a:r>
            <a:br>
              <a:rPr lang="en-GB" sz="2800" b="1" dirty="0" smtClean="0"/>
            </a:br>
            <a:r>
              <a:rPr lang="en-GB" sz="2800" b="1" dirty="0" smtClean="0"/>
              <a:t>D    </a:t>
            </a:r>
            <a:r>
              <a:rPr lang="en-GB" sz="2800" dirty="0" smtClean="0"/>
              <a:t>24 nautical miles</a:t>
            </a:r>
            <a:endParaRPr lang="en-GB" sz="2800" b="1" dirty="0"/>
          </a:p>
        </p:txBody>
      </p:sp>
      <p:sp>
        <p:nvSpPr>
          <p:cNvPr id="3" name="Subtitle 2"/>
          <p:cNvSpPr>
            <a:spLocks noGrp="1"/>
          </p:cNvSpPr>
          <p:nvPr>
            <p:ph type="subTitle" idx="1"/>
          </p:nvPr>
        </p:nvSpPr>
        <p:spPr>
          <a:xfrm>
            <a:off x="9644098" y="3886200"/>
            <a:ext cx="785818" cy="1752600"/>
          </a:xfrm>
        </p:spPr>
        <p:txBody>
          <a:bodyPr/>
          <a:lstStyle/>
          <a:p>
            <a:endParaRPr lang="en-GB"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85720" y="357166"/>
            <a:ext cx="8429684" cy="6286543"/>
          </a:xfrm>
        </p:spPr>
        <p:txBody>
          <a:bodyPr>
            <a:normAutofit fontScale="90000"/>
          </a:bodyPr>
          <a:lstStyle/>
          <a:p>
            <a:pPr algn="l"/>
            <a:r>
              <a:rPr lang="en-GB" sz="2800" b="1" dirty="0" smtClean="0"/>
              <a:t>                                                Question 5</a:t>
            </a:r>
            <a:br>
              <a:rPr lang="en-GB" sz="2800" b="1" dirty="0" smtClean="0"/>
            </a:br>
            <a:r>
              <a:rPr lang="en-GB" sz="2800" b="1" dirty="0" smtClean="0"/>
              <a:t/>
            </a:r>
            <a:br>
              <a:rPr lang="en-GB" sz="2800" b="1" dirty="0" smtClean="0"/>
            </a:br>
            <a:r>
              <a:rPr lang="en-GB" sz="2800" b="1" dirty="0" smtClean="0"/>
              <a:t/>
            </a:r>
            <a:br>
              <a:rPr lang="en-GB" sz="2800" b="1" dirty="0" smtClean="0"/>
            </a:br>
            <a:r>
              <a:rPr lang="en-GB" sz="2800" b="1" dirty="0" smtClean="0"/>
              <a:t/>
            </a:r>
            <a:br>
              <a:rPr lang="en-GB" sz="2800" b="1" dirty="0" smtClean="0"/>
            </a:br>
            <a:r>
              <a:rPr lang="en-GB" sz="2800" b="1" dirty="0" smtClean="0"/>
              <a:t/>
            </a:r>
            <a:br>
              <a:rPr lang="en-GB" sz="2800" b="1" dirty="0" smtClean="0"/>
            </a:br>
            <a:r>
              <a:rPr lang="en-GB" sz="2800" b="1" dirty="0"/>
              <a:t/>
            </a:r>
            <a:br>
              <a:rPr lang="en-GB" sz="2800" b="1" dirty="0"/>
            </a:br>
            <a:r>
              <a:rPr lang="en-GB" sz="2800" b="1" dirty="0" smtClean="0"/>
              <a:t/>
            </a:r>
            <a:br>
              <a:rPr lang="en-GB" sz="2800" b="1" dirty="0" smtClean="0"/>
            </a:br>
            <a:r>
              <a:rPr lang="en-GB" sz="2800" b="1" dirty="0"/>
              <a:t/>
            </a:r>
            <a:br>
              <a:rPr lang="en-GB" sz="2800" b="1" dirty="0"/>
            </a:br>
            <a:r>
              <a:rPr lang="en-GB" sz="2800" b="1" dirty="0" smtClean="0"/>
              <a:t/>
            </a:r>
            <a:br>
              <a:rPr lang="en-GB" sz="2800" b="1" dirty="0" smtClean="0"/>
            </a:br>
            <a:r>
              <a:rPr lang="en-GB" sz="2800" b="1" dirty="0" smtClean="0"/>
              <a:t>How would you identify this navigational buoy by night?</a:t>
            </a:r>
            <a:br>
              <a:rPr lang="en-GB" sz="2800" b="1" dirty="0" smtClean="0"/>
            </a:br>
            <a:r>
              <a:rPr lang="en-GB" sz="2800" b="1" dirty="0" smtClean="0"/>
              <a:t/>
            </a:r>
            <a:br>
              <a:rPr lang="en-GB" sz="2800" b="1" dirty="0" smtClean="0"/>
            </a:br>
            <a:r>
              <a:rPr lang="en-GB" sz="2800" b="1" dirty="0" smtClean="0"/>
              <a:t>A   </a:t>
            </a:r>
            <a:r>
              <a:rPr lang="en-GB" sz="2800" dirty="0" smtClean="0"/>
              <a:t>By its red and black bands</a:t>
            </a:r>
            <a:r>
              <a:rPr lang="en-GB" sz="2800" b="1" dirty="0" smtClean="0"/>
              <a:t/>
            </a:r>
            <a:br>
              <a:rPr lang="en-GB" sz="2800" b="1" dirty="0" smtClean="0"/>
            </a:br>
            <a:r>
              <a:rPr lang="en-GB" sz="2800" b="1" dirty="0" smtClean="0"/>
              <a:t>B   </a:t>
            </a:r>
            <a:r>
              <a:rPr lang="en-GB" sz="2800" dirty="0" smtClean="0"/>
              <a:t>By its position on the rocks</a:t>
            </a:r>
            <a:r>
              <a:rPr lang="en-GB" sz="2800" b="1" dirty="0" smtClean="0"/>
              <a:t/>
            </a:r>
            <a:br>
              <a:rPr lang="en-GB" sz="2800" b="1" dirty="0" smtClean="0"/>
            </a:br>
            <a:r>
              <a:rPr lang="en-GB" sz="2800" b="1" dirty="0" smtClean="0"/>
              <a:t>C   </a:t>
            </a:r>
            <a:r>
              <a:rPr lang="en-GB" sz="2800" dirty="0" smtClean="0"/>
              <a:t>By a series of six short flashes of red light</a:t>
            </a:r>
            <a:r>
              <a:rPr lang="en-GB" sz="2800" b="1" dirty="0" smtClean="0"/>
              <a:t/>
            </a:r>
            <a:br>
              <a:rPr lang="en-GB" sz="2800" b="1" dirty="0" smtClean="0"/>
            </a:br>
            <a:r>
              <a:rPr lang="en-GB" sz="2800" b="1" dirty="0" smtClean="0"/>
              <a:t>D   </a:t>
            </a:r>
            <a:r>
              <a:rPr lang="en-GB" sz="2800" dirty="0" smtClean="0"/>
              <a:t>By </a:t>
            </a:r>
            <a:r>
              <a:rPr lang="en-GB" sz="2800" dirty="0"/>
              <a:t>a</a:t>
            </a:r>
            <a:r>
              <a:rPr lang="en-GB" sz="2800" dirty="0" smtClean="0"/>
              <a:t> series of two flashes of white light</a:t>
            </a:r>
            <a:r>
              <a:rPr lang="en-GB" sz="2800" b="1" dirty="0" smtClean="0"/>
              <a:t/>
            </a:r>
            <a:br>
              <a:rPr lang="en-GB" sz="2800" b="1" dirty="0" smtClean="0"/>
            </a:br>
            <a:endParaRPr lang="en-GB" sz="2800" b="1" dirty="0"/>
          </a:p>
        </p:txBody>
      </p:sp>
      <p:sp>
        <p:nvSpPr>
          <p:cNvPr id="3" name="Subtitle 2"/>
          <p:cNvSpPr>
            <a:spLocks noGrp="1"/>
          </p:cNvSpPr>
          <p:nvPr>
            <p:ph type="subTitle" idx="1"/>
          </p:nvPr>
        </p:nvSpPr>
        <p:spPr>
          <a:xfrm flipH="1">
            <a:off x="9858412" y="3886200"/>
            <a:ext cx="928694" cy="1752600"/>
          </a:xfrm>
        </p:spPr>
        <p:txBody>
          <a:bodyPr/>
          <a:lstStyle/>
          <a:p>
            <a:endParaRPr lang="en-GB" dirty="0"/>
          </a:p>
        </p:txBody>
      </p:sp>
      <p:pic>
        <p:nvPicPr>
          <p:cNvPr id="2050" name="Picture 2" descr="C:\Users\lifebook\Downloads\mistral_20.jpg"/>
          <p:cNvPicPr>
            <a:picLocks noChangeAspect="1" noChangeArrowheads="1"/>
          </p:cNvPicPr>
          <p:nvPr/>
        </p:nvPicPr>
        <p:blipFill>
          <a:blip r:embed="rId2" cstate="print"/>
          <a:srcRect/>
          <a:stretch>
            <a:fillRect/>
          </a:stretch>
        </p:blipFill>
        <p:spPr bwMode="auto">
          <a:xfrm>
            <a:off x="2500298" y="857232"/>
            <a:ext cx="4214842" cy="2857520"/>
          </a:xfrm>
          <a:prstGeom prst="rect">
            <a:avLst/>
          </a:prstGeom>
          <a:noFill/>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7158" y="357166"/>
            <a:ext cx="8429684" cy="6215105"/>
          </a:xfrm>
        </p:spPr>
        <p:txBody>
          <a:bodyPr>
            <a:normAutofit/>
          </a:bodyPr>
          <a:lstStyle/>
          <a:p>
            <a:pPr algn="l"/>
            <a:r>
              <a:rPr lang="en-GB" sz="2800" b="1" dirty="0" smtClean="0"/>
              <a:t>                                       Question 6</a:t>
            </a:r>
            <a:br>
              <a:rPr lang="en-GB" sz="2800" b="1" dirty="0" smtClean="0"/>
            </a:br>
            <a:r>
              <a:rPr lang="en-GB" sz="2800" b="1" dirty="0" smtClean="0"/>
              <a:t>Your craft is on course 265◦C at night and at about 1 nautical mile ahead, you sight a buoy flashing white light continuously. You should therefore</a:t>
            </a:r>
            <a:br>
              <a:rPr lang="en-GB" sz="2800" b="1" dirty="0" smtClean="0"/>
            </a:br>
            <a:r>
              <a:rPr lang="en-GB" sz="2800" b="1" dirty="0" smtClean="0"/>
              <a:t/>
            </a:r>
            <a:br>
              <a:rPr lang="en-GB" sz="2800" b="1" dirty="0" smtClean="0"/>
            </a:br>
            <a:r>
              <a:rPr lang="en-GB" sz="2800" b="1" dirty="0" smtClean="0"/>
              <a:t>A </a:t>
            </a:r>
            <a:r>
              <a:rPr lang="en-GB" sz="2800" dirty="0" smtClean="0"/>
              <a:t>   come to course to 205</a:t>
            </a:r>
            <a:r>
              <a:rPr lang="en-GB" sz="2800" b="1" dirty="0" smtClean="0"/>
              <a:t> ◦</a:t>
            </a:r>
            <a:r>
              <a:rPr lang="en-GB" sz="2800" dirty="0" smtClean="0"/>
              <a:t> C</a:t>
            </a:r>
            <a:br>
              <a:rPr lang="en-GB" sz="2800" dirty="0" smtClean="0"/>
            </a:br>
            <a:r>
              <a:rPr lang="en-GB" sz="2800" b="1" dirty="0" smtClean="0"/>
              <a:t/>
            </a:r>
            <a:br>
              <a:rPr lang="en-GB" sz="2800" b="1" dirty="0" smtClean="0"/>
            </a:br>
            <a:r>
              <a:rPr lang="en-GB" sz="2800" b="1" dirty="0" smtClean="0"/>
              <a:t>B   </a:t>
            </a:r>
            <a:r>
              <a:rPr lang="en-GB" sz="2800" dirty="0" smtClean="0"/>
              <a:t> come to course to 325</a:t>
            </a:r>
            <a:r>
              <a:rPr lang="en-GB" sz="2800" b="1" dirty="0" smtClean="0"/>
              <a:t> ◦</a:t>
            </a:r>
            <a:r>
              <a:rPr lang="en-GB" sz="2800" dirty="0" smtClean="0"/>
              <a:t> C</a:t>
            </a:r>
            <a:br>
              <a:rPr lang="en-GB" sz="2800" dirty="0" smtClean="0"/>
            </a:br>
            <a:r>
              <a:rPr lang="en-GB" sz="2800" b="1" dirty="0" smtClean="0"/>
              <a:t/>
            </a:r>
            <a:br>
              <a:rPr lang="en-GB" sz="2800" b="1" dirty="0" smtClean="0"/>
            </a:br>
            <a:r>
              <a:rPr lang="en-GB" sz="2800" b="1" dirty="0" smtClean="0"/>
              <a:t>C     </a:t>
            </a:r>
            <a:r>
              <a:rPr lang="en-GB" sz="2800" dirty="0" smtClean="0"/>
              <a:t>come to port by not more than 15 degrees</a:t>
            </a:r>
            <a:br>
              <a:rPr lang="en-GB" sz="2800" dirty="0" smtClean="0"/>
            </a:br>
            <a:r>
              <a:rPr lang="en-GB" sz="2800" b="1" dirty="0" smtClean="0"/>
              <a:t/>
            </a:r>
            <a:br>
              <a:rPr lang="en-GB" sz="2800" b="1" dirty="0" smtClean="0"/>
            </a:br>
            <a:r>
              <a:rPr lang="en-GB" sz="2800" b="1" dirty="0" smtClean="0"/>
              <a:t>D     </a:t>
            </a:r>
            <a:r>
              <a:rPr lang="en-GB" sz="2800" dirty="0" smtClean="0"/>
              <a:t>keep well clear since it is an isolated danger buoy</a:t>
            </a:r>
            <a:endParaRPr lang="en-GB" sz="2800" b="1" dirty="0"/>
          </a:p>
        </p:txBody>
      </p:sp>
      <p:sp>
        <p:nvSpPr>
          <p:cNvPr id="3" name="Subtitle 2"/>
          <p:cNvSpPr>
            <a:spLocks noGrp="1"/>
          </p:cNvSpPr>
          <p:nvPr>
            <p:ph type="subTitle" idx="1"/>
          </p:nvPr>
        </p:nvSpPr>
        <p:spPr>
          <a:xfrm flipH="1">
            <a:off x="9358346" y="3886200"/>
            <a:ext cx="1285884" cy="1752600"/>
          </a:xfrm>
        </p:spPr>
        <p:txBody>
          <a:bodyPr/>
          <a:lstStyle/>
          <a:p>
            <a:endParaRPr lang="en-GB"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7158" y="357167"/>
            <a:ext cx="8358246" cy="6215106"/>
          </a:xfrm>
        </p:spPr>
        <p:txBody>
          <a:bodyPr>
            <a:normAutofit fontScale="90000"/>
          </a:bodyPr>
          <a:lstStyle/>
          <a:p>
            <a:pPr algn="l"/>
            <a:r>
              <a:rPr lang="en-GB" sz="2800" b="1" dirty="0" smtClean="0"/>
              <a:t>                                               Question 7</a:t>
            </a:r>
            <a:br>
              <a:rPr lang="en-GB" sz="2800" b="1" dirty="0" smtClean="0"/>
            </a:br>
            <a:r>
              <a:rPr lang="en-GB" sz="2800" b="1" dirty="0" smtClean="0"/>
              <a:t/>
            </a:r>
            <a:br>
              <a:rPr lang="en-GB" sz="2800" b="1" dirty="0" smtClean="0"/>
            </a:br>
            <a:r>
              <a:rPr lang="en-GB" sz="2800" b="1" dirty="0" smtClean="0"/>
              <a:t>Which statement in respect of lookout duties at sea is FALSE?</a:t>
            </a:r>
            <a:br>
              <a:rPr lang="en-GB" sz="2800" b="1" dirty="0" smtClean="0"/>
            </a:br>
            <a:r>
              <a:rPr lang="en-GB" sz="2800" b="1" dirty="0" smtClean="0"/>
              <a:t/>
            </a:r>
            <a:br>
              <a:rPr lang="en-GB" sz="2800" b="1" dirty="0" smtClean="0"/>
            </a:br>
            <a:r>
              <a:rPr lang="en-GB" sz="2800" b="1" dirty="0" smtClean="0"/>
              <a:t>A  </a:t>
            </a:r>
            <a:r>
              <a:rPr lang="en-GB" sz="2800" dirty="0" smtClean="0"/>
              <a:t>when alone onboard a craft at sea, the responsibility of maintaining lookout rests with the skipper</a:t>
            </a:r>
            <a:br>
              <a:rPr lang="en-GB" sz="2800" dirty="0" smtClean="0"/>
            </a:br>
            <a:r>
              <a:rPr lang="en-GB" sz="2800" b="1" dirty="0" smtClean="0"/>
              <a:t/>
            </a:r>
            <a:br>
              <a:rPr lang="en-GB" sz="2800" b="1" dirty="0" smtClean="0"/>
            </a:br>
            <a:r>
              <a:rPr lang="en-GB" sz="2800" b="1" dirty="0" smtClean="0"/>
              <a:t>B  </a:t>
            </a:r>
            <a:r>
              <a:rPr lang="en-GB" sz="2800" dirty="0" smtClean="0"/>
              <a:t>a skipper is not relieved of his obligation to maintain lookout at night even though visibility is excellent</a:t>
            </a:r>
            <a:br>
              <a:rPr lang="en-GB" sz="2800" dirty="0" smtClean="0"/>
            </a:br>
            <a:r>
              <a:rPr lang="en-GB" sz="2800" b="1" dirty="0" smtClean="0"/>
              <a:t/>
            </a:r>
            <a:br>
              <a:rPr lang="en-GB" sz="2800" b="1" dirty="0" smtClean="0"/>
            </a:br>
            <a:r>
              <a:rPr lang="en-GB" sz="2800" b="1" dirty="0" smtClean="0"/>
              <a:t>C </a:t>
            </a:r>
            <a:r>
              <a:rPr lang="en-GB" sz="2800" dirty="0" smtClean="0"/>
              <a:t> a skipper should ensure that lookout is being maintained at all times by day and by night</a:t>
            </a:r>
            <a:br>
              <a:rPr lang="en-GB" sz="2800" dirty="0" smtClean="0"/>
            </a:br>
            <a:r>
              <a:rPr lang="en-GB" sz="2800" b="1" dirty="0" smtClean="0"/>
              <a:t/>
            </a:r>
            <a:br>
              <a:rPr lang="en-GB" sz="2800" b="1" dirty="0" smtClean="0"/>
            </a:br>
            <a:r>
              <a:rPr lang="en-GB" sz="2800" b="1" dirty="0" smtClean="0"/>
              <a:t>D  </a:t>
            </a:r>
            <a:r>
              <a:rPr lang="en-GB" sz="2800" dirty="0" smtClean="0"/>
              <a:t>a skipper may stop maintaining visual lookout in restricted visibility if a radar is being operated</a:t>
            </a:r>
            <a:endParaRPr lang="en-GB" sz="2800" b="1" dirty="0"/>
          </a:p>
        </p:txBody>
      </p:sp>
      <p:sp>
        <p:nvSpPr>
          <p:cNvPr id="3" name="Subtitle 2"/>
          <p:cNvSpPr>
            <a:spLocks noGrp="1"/>
          </p:cNvSpPr>
          <p:nvPr>
            <p:ph type="subTitle" idx="1"/>
          </p:nvPr>
        </p:nvSpPr>
        <p:spPr>
          <a:xfrm flipH="1">
            <a:off x="9501222" y="3886200"/>
            <a:ext cx="2071702" cy="1752600"/>
          </a:xfrm>
        </p:spPr>
        <p:txBody>
          <a:bodyPr/>
          <a:lstStyle/>
          <a:p>
            <a:endParaRPr lang="en-GB"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85720" y="357167"/>
            <a:ext cx="8572560" cy="6215106"/>
          </a:xfrm>
        </p:spPr>
        <p:txBody>
          <a:bodyPr>
            <a:normAutofit/>
          </a:bodyPr>
          <a:lstStyle/>
          <a:p>
            <a:pPr algn="l"/>
            <a:r>
              <a:rPr lang="en-GB" sz="2800" b="1" dirty="0" smtClean="0"/>
              <a:t>                                       Question 8</a:t>
            </a:r>
            <a:br>
              <a:rPr lang="en-GB" sz="2800" b="1" dirty="0" smtClean="0"/>
            </a:br>
            <a:r>
              <a:rPr lang="en-GB" sz="2800" b="1" dirty="0" smtClean="0"/>
              <a:t>‘Safe speed’ is a speed adopted by a skipper based on several factors. One of them is</a:t>
            </a:r>
            <a:br>
              <a:rPr lang="en-GB" sz="2800" b="1" dirty="0" smtClean="0"/>
            </a:br>
            <a:r>
              <a:rPr lang="en-GB" sz="2800" b="1" dirty="0" smtClean="0"/>
              <a:t/>
            </a:r>
            <a:br>
              <a:rPr lang="en-GB" sz="2800" b="1" dirty="0" smtClean="0"/>
            </a:br>
            <a:r>
              <a:rPr lang="en-GB" sz="2800" b="1" dirty="0" smtClean="0"/>
              <a:t>A  </a:t>
            </a:r>
            <a:r>
              <a:rPr lang="en-GB" sz="2800" dirty="0" smtClean="0"/>
              <a:t>  his age and experience</a:t>
            </a:r>
            <a:br>
              <a:rPr lang="en-GB" sz="2800" dirty="0" smtClean="0"/>
            </a:br>
            <a:r>
              <a:rPr lang="en-GB" sz="2800" b="1" dirty="0" smtClean="0"/>
              <a:t/>
            </a:r>
            <a:br>
              <a:rPr lang="en-GB" sz="2800" b="1" dirty="0" smtClean="0"/>
            </a:br>
            <a:r>
              <a:rPr lang="en-GB" sz="2800" b="1" dirty="0" smtClean="0"/>
              <a:t>B    </a:t>
            </a:r>
            <a:r>
              <a:rPr lang="en-GB" sz="2800" dirty="0" smtClean="0"/>
              <a:t>the number of persons detailed for lookout duties</a:t>
            </a:r>
            <a:br>
              <a:rPr lang="en-GB" sz="2800" dirty="0" smtClean="0"/>
            </a:br>
            <a:r>
              <a:rPr lang="en-GB" sz="2800" b="1" dirty="0" smtClean="0"/>
              <a:t/>
            </a:r>
            <a:br>
              <a:rPr lang="en-GB" sz="2800" b="1" dirty="0" smtClean="0"/>
            </a:br>
            <a:r>
              <a:rPr lang="en-GB" sz="2800" b="1" dirty="0" smtClean="0"/>
              <a:t>C    </a:t>
            </a:r>
            <a:r>
              <a:rPr lang="en-GB" sz="2800" dirty="0" smtClean="0"/>
              <a:t>the length of the craft</a:t>
            </a:r>
            <a:br>
              <a:rPr lang="en-GB" sz="2800" dirty="0" smtClean="0"/>
            </a:br>
            <a:r>
              <a:rPr lang="en-GB" sz="2800" b="1" dirty="0" smtClean="0"/>
              <a:t/>
            </a:r>
            <a:br>
              <a:rPr lang="en-GB" sz="2800" b="1" dirty="0" smtClean="0"/>
            </a:br>
            <a:r>
              <a:rPr lang="en-GB" sz="2800" b="1" dirty="0" smtClean="0"/>
              <a:t>D    </a:t>
            </a:r>
            <a:r>
              <a:rPr lang="en-GB" sz="2800" dirty="0" smtClean="0"/>
              <a:t>the boat traffic density at any given time</a:t>
            </a:r>
            <a:endParaRPr lang="en-GB" sz="2800" b="1" dirty="0"/>
          </a:p>
        </p:txBody>
      </p:sp>
      <p:sp>
        <p:nvSpPr>
          <p:cNvPr id="3" name="Subtitle 2"/>
          <p:cNvSpPr>
            <a:spLocks noGrp="1"/>
          </p:cNvSpPr>
          <p:nvPr>
            <p:ph type="subTitle" idx="1"/>
          </p:nvPr>
        </p:nvSpPr>
        <p:spPr>
          <a:xfrm flipH="1">
            <a:off x="9572660" y="3886200"/>
            <a:ext cx="857256" cy="1752600"/>
          </a:xfrm>
        </p:spPr>
        <p:txBody>
          <a:bodyPr/>
          <a:lstStyle/>
          <a:p>
            <a:endParaRPr lang="en-GB"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7158" y="285728"/>
            <a:ext cx="8429684" cy="6286543"/>
          </a:xfrm>
        </p:spPr>
        <p:txBody>
          <a:bodyPr>
            <a:noAutofit/>
          </a:bodyPr>
          <a:lstStyle/>
          <a:p>
            <a:pPr algn="l"/>
            <a:r>
              <a:rPr lang="en-GB" sz="2400" b="1" dirty="0" smtClean="0"/>
              <a:t>                                            Question 9</a:t>
            </a:r>
            <a:br>
              <a:rPr lang="en-GB" sz="2400" b="1" dirty="0" smtClean="0"/>
            </a:br>
            <a:r>
              <a:rPr lang="en-GB" sz="2400" b="1" dirty="0" smtClean="0"/>
              <a:t>A container vessel is off your starboard bow at a distance of 2 nautical miles. You take her bearing at 0910 and read 018 C. At 0916, you take a second bearing and read 010 C as shown below.</a:t>
            </a:r>
            <a:br>
              <a:rPr lang="en-GB" sz="2400" b="1" dirty="0" smtClean="0"/>
            </a:br>
            <a:r>
              <a:rPr lang="en-GB" sz="2400" b="1" dirty="0" smtClean="0"/>
              <a:t/>
            </a:r>
            <a:br>
              <a:rPr lang="en-GB" sz="2400" b="1" dirty="0" smtClean="0"/>
            </a:br>
            <a:r>
              <a:rPr lang="en-GB" sz="2400" b="1" dirty="0" smtClean="0"/>
              <a:t/>
            </a:r>
            <a:br>
              <a:rPr lang="en-GB" sz="2400" b="1" dirty="0" smtClean="0"/>
            </a:br>
            <a:r>
              <a:rPr lang="en-GB" sz="2400" b="1" dirty="0" smtClean="0"/>
              <a:t/>
            </a:r>
            <a:br>
              <a:rPr lang="en-GB" sz="2400" b="1" dirty="0" smtClean="0"/>
            </a:br>
            <a:r>
              <a:rPr lang="en-GB" sz="2400" b="1" dirty="0" smtClean="0"/>
              <a:t/>
            </a:r>
            <a:br>
              <a:rPr lang="en-GB" sz="2400" b="1" dirty="0" smtClean="0"/>
            </a:br>
            <a:r>
              <a:rPr lang="en-GB" sz="2400" b="1" dirty="0" smtClean="0"/>
              <a:t/>
            </a:r>
            <a:br>
              <a:rPr lang="en-GB" sz="2400" b="1" dirty="0" smtClean="0"/>
            </a:br>
            <a:r>
              <a:rPr lang="en-GB" sz="2400" b="1" dirty="0" smtClean="0"/>
              <a:t/>
            </a:r>
            <a:br>
              <a:rPr lang="en-GB" sz="2400" b="1" dirty="0" smtClean="0"/>
            </a:br>
            <a:r>
              <a:rPr lang="en-GB" sz="2400" b="1" dirty="0" smtClean="0"/>
              <a:t/>
            </a:r>
            <a:br>
              <a:rPr lang="en-GB" sz="2400" b="1" dirty="0" smtClean="0"/>
            </a:br>
            <a:r>
              <a:rPr lang="en-GB" sz="2400" b="1" dirty="0" smtClean="0"/>
              <a:t/>
            </a:r>
            <a:br>
              <a:rPr lang="en-GB" sz="2400" b="1" dirty="0" smtClean="0"/>
            </a:br>
            <a:r>
              <a:rPr lang="en-GB" sz="2400" b="1" dirty="0" smtClean="0"/>
              <a:t>As a competent skipper, you know that</a:t>
            </a:r>
            <a:br>
              <a:rPr lang="en-GB" sz="2400" b="1" dirty="0" smtClean="0"/>
            </a:br>
            <a:r>
              <a:rPr lang="en-GB" sz="2400" b="1" dirty="0" smtClean="0"/>
              <a:t>A </a:t>
            </a:r>
            <a:r>
              <a:rPr lang="en-GB" sz="2400" dirty="0" smtClean="0"/>
              <a:t>  you must alter course to port by at least 60 degrees</a:t>
            </a:r>
            <a:r>
              <a:rPr lang="en-GB" sz="2400" b="1" dirty="0" smtClean="0"/>
              <a:t/>
            </a:r>
            <a:br>
              <a:rPr lang="en-GB" sz="2400" b="1" dirty="0" smtClean="0"/>
            </a:br>
            <a:r>
              <a:rPr lang="en-GB" sz="2400" b="1" dirty="0" smtClean="0"/>
              <a:t>B   </a:t>
            </a:r>
            <a:r>
              <a:rPr lang="en-GB" sz="2400" dirty="0" smtClean="0"/>
              <a:t>the</a:t>
            </a:r>
            <a:r>
              <a:rPr lang="en-GB" sz="2400" b="1" dirty="0" smtClean="0"/>
              <a:t> </a:t>
            </a:r>
            <a:r>
              <a:rPr lang="en-GB" sz="2400" dirty="0" smtClean="0"/>
              <a:t>container vessel will pass ahead of you</a:t>
            </a:r>
            <a:r>
              <a:rPr lang="en-GB" sz="2400" b="1" dirty="0" smtClean="0"/>
              <a:t/>
            </a:r>
            <a:br>
              <a:rPr lang="en-GB" sz="2400" b="1" dirty="0" smtClean="0"/>
            </a:br>
            <a:r>
              <a:rPr lang="en-GB" sz="2400" b="1" dirty="0" smtClean="0"/>
              <a:t>C    </a:t>
            </a:r>
            <a:r>
              <a:rPr lang="en-GB" sz="2400" dirty="0" smtClean="0"/>
              <a:t>there is high risk of collision</a:t>
            </a:r>
            <a:r>
              <a:rPr lang="en-GB" sz="2400" b="1" dirty="0" smtClean="0"/>
              <a:t/>
            </a:r>
            <a:br>
              <a:rPr lang="en-GB" sz="2400" b="1" dirty="0" smtClean="0"/>
            </a:br>
            <a:r>
              <a:rPr lang="en-GB" sz="2400" b="1" dirty="0" smtClean="0"/>
              <a:t>D    </a:t>
            </a:r>
            <a:r>
              <a:rPr lang="en-GB" sz="2400" dirty="0" smtClean="0"/>
              <a:t>you must maintain your course and speed</a:t>
            </a:r>
            <a:r>
              <a:rPr lang="en-GB" sz="2400" b="1" dirty="0" smtClean="0"/>
              <a:t/>
            </a:r>
            <a:br>
              <a:rPr lang="en-GB" sz="2400" b="1" dirty="0" smtClean="0"/>
            </a:br>
            <a:r>
              <a:rPr lang="en-GB" sz="2400" b="1" dirty="0" smtClean="0"/>
              <a:t/>
            </a:r>
            <a:br>
              <a:rPr lang="en-GB" sz="2400" b="1" dirty="0" smtClean="0"/>
            </a:br>
            <a:endParaRPr lang="en-GB" sz="2400" b="1" dirty="0"/>
          </a:p>
        </p:txBody>
      </p:sp>
      <p:sp>
        <p:nvSpPr>
          <p:cNvPr id="3" name="Subtitle 2"/>
          <p:cNvSpPr>
            <a:spLocks noGrp="1"/>
          </p:cNvSpPr>
          <p:nvPr>
            <p:ph type="subTitle" idx="1"/>
          </p:nvPr>
        </p:nvSpPr>
        <p:spPr>
          <a:xfrm flipH="1">
            <a:off x="9358346" y="3886200"/>
            <a:ext cx="3000396" cy="1752600"/>
          </a:xfrm>
        </p:spPr>
        <p:txBody>
          <a:bodyPr/>
          <a:lstStyle/>
          <a:p>
            <a:endParaRPr lang="en-GB" dirty="0"/>
          </a:p>
        </p:txBody>
      </p:sp>
      <p:pic>
        <p:nvPicPr>
          <p:cNvPr id="4" name="Picture 2" descr="C:\Users\lifebook\Downloads\approaching-ship-distance-1.jpg"/>
          <p:cNvPicPr>
            <a:picLocks noChangeAspect="1" noChangeArrowheads="1"/>
          </p:cNvPicPr>
          <p:nvPr/>
        </p:nvPicPr>
        <p:blipFill>
          <a:blip r:embed="rId2"/>
          <a:srcRect/>
          <a:stretch>
            <a:fillRect/>
          </a:stretch>
        </p:blipFill>
        <p:spPr bwMode="auto">
          <a:xfrm>
            <a:off x="2857488" y="1571612"/>
            <a:ext cx="2928958" cy="2643206"/>
          </a:xfrm>
          <a:prstGeom prst="rect">
            <a:avLst/>
          </a:prstGeom>
          <a:noFill/>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85720" y="285728"/>
            <a:ext cx="8501122" cy="6357981"/>
          </a:xfrm>
        </p:spPr>
        <p:txBody>
          <a:bodyPr>
            <a:normAutofit fontScale="90000"/>
          </a:bodyPr>
          <a:lstStyle/>
          <a:p>
            <a:pPr algn="l"/>
            <a:r>
              <a:rPr lang="en-GB" sz="2400" b="1" dirty="0" smtClean="0"/>
              <a:t>                                              </a:t>
            </a:r>
            <a:br>
              <a:rPr lang="en-GB" sz="2400" b="1" dirty="0" smtClean="0"/>
            </a:br>
            <a:r>
              <a:rPr lang="en-GB" sz="2400" b="1" dirty="0" smtClean="0"/>
              <a:t/>
            </a:r>
            <a:br>
              <a:rPr lang="en-GB" sz="2400" b="1" dirty="0" smtClean="0"/>
            </a:br>
            <a:r>
              <a:rPr lang="en-GB" sz="2400" b="1" dirty="0" smtClean="0"/>
              <a:t/>
            </a:r>
            <a:br>
              <a:rPr lang="en-GB" sz="2400" b="1" dirty="0" smtClean="0"/>
            </a:br>
            <a:r>
              <a:rPr lang="en-GB" sz="2400" b="1" dirty="0" smtClean="0"/>
              <a:t/>
            </a:r>
            <a:br>
              <a:rPr lang="en-GB" sz="2400" b="1" dirty="0" smtClean="0"/>
            </a:br>
            <a:r>
              <a:rPr lang="en-GB" sz="2700" b="1" dirty="0" smtClean="0"/>
              <a:t/>
            </a:r>
            <a:br>
              <a:rPr lang="en-GB" sz="2700" b="1" dirty="0" smtClean="0"/>
            </a:br>
            <a:r>
              <a:rPr lang="en-GB" sz="2700" b="1" dirty="0" smtClean="0"/>
              <a:t/>
            </a:r>
            <a:br>
              <a:rPr lang="en-GB" sz="2700" b="1" dirty="0" smtClean="0"/>
            </a:br>
            <a:r>
              <a:rPr lang="en-GB" sz="2700" b="1" dirty="0" smtClean="0"/>
              <a:t/>
            </a:r>
            <a:br>
              <a:rPr lang="en-GB" sz="2700" b="1" dirty="0" smtClean="0"/>
            </a:br>
            <a:r>
              <a:rPr lang="en-GB" sz="2700" b="1" dirty="0" smtClean="0"/>
              <a:t/>
            </a:r>
            <a:br>
              <a:rPr lang="en-GB" sz="2700" b="1" dirty="0" smtClean="0"/>
            </a:br>
            <a:r>
              <a:rPr lang="en-GB" sz="2700" b="1" dirty="0" smtClean="0"/>
              <a:t/>
            </a:r>
            <a:br>
              <a:rPr lang="en-GB" sz="2700" b="1" dirty="0" smtClean="0"/>
            </a:br>
            <a:r>
              <a:rPr lang="en-GB" sz="2700" b="1" dirty="0" smtClean="0"/>
              <a:t/>
            </a:r>
            <a:br>
              <a:rPr lang="en-GB" sz="2700" b="1" dirty="0" smtClean="0"/>
            </a:br>
            <a:r>
              <a:rPr lang="en-GB" sz="2700" b="1" dirty="0" smtClean="0"/>
              <a:t/>
            </a:r>
            <a:br>
              <a:rPr lang="en-GB" sz="2700" b="1" dirty="0" smtClean="0"/>
            </a:br>
            <a:r>
              <a:rPr lang="en-GB" sz="2700" b="1" dirty="0" smtClean="0"/>
              <a:t/>
            </a:r>
            <a:br>
              <a:rPr lang="en-GB" sz="2700" b="1" dirty="0" smtClean="0"/>
            </a:br>
            <a:r>
              <a:rPr lang="en-GB" sz="2700" b="1" dirty="0" smtClean="0"/>
              <a:t/>
            </a:r>
            <a:br>
              <a:rPr lang="en-GB" sz="2700" b="1" dirty="0" smtClean="0"/>
            </a:br>
            <a:r>
              <a:rPr lang="en-GB" sz="2700" b="1" dirty="0" smtClean="0"/>
              <a:t>                                               Question 10</a:t>
            </a:r>
            <a:br>
              <a:rPr lang="en-GB" sz="2700" b="1" dirty="0" smtClean="0"/>
            </a:br>
            <a:r>
              <a:rPr lang="en-GB" sz="2700" b="1" dirty="0" smtClean="0"/>
              <a:t/>
            </a:r>
            <a:br>
              <a:rPr lang="en-GB" sz="2700" b="1" dirty="0" smtClean="0"/>
            </a:br>
            <a:r>
              <a:rPr lang="en-GB" sz="2700" b="1" dirty="0" smtClean="0"/>
              <a:t/>
            </a:r>
            <a:br>
              <a:rPr lang="en-GB" sz="2700" b="1" dirty="0" smtClean="0"/>
            </a:br>
            <a:r>
              <a:rPr lang="en-GB" sz="2700" b="1" dirty="0" smtClean="0"/>
              <a:t/>
            </a:r>
            <a:br>
              <a:rPr lang="en-GB" sz="2700" b="1" dirty="0" smtClean="0"/>
            </a:br>
            <a:r>
              <a:rPr lang="en-GB" sz="2700" b="1" dirty="0" smtClean="0"/>
              <a:t/>
            </a:r>
            <a:br>
              <a:rPr lang="en-GB" sz="2700" b="1" dirty="0" smtClean="0"/>
            </a:br>
            <a:r>
              <a:rPr lang="en-GB" sz="2700" b="1" dirty="0" smtClean="0"/>
              <a:t/>
            </a:r>
            <a:br>
              <a:rPr lang="en-GB" sz="2700" b="1" dirty="0" smtClean="0"/>
            </a:br>
            <a:r>
              <a:rPr lang="en-GB" sz="2700" b="1" dirty="0" smtClean="0"/>
              <a:t/>
            </a:r>
            <a:br>
              <a:rPr lang="en-GB" sz="2700" b="1" dirty="0" smtClean="0"/>
            </a:br>
            <a:r>
              <a:rPr lang="en-GB" sz="2700" b="1" dirty="0" smtClean="0"/>
              <a:t/>
            </a:r>
            <a:br>
              <a:rPr lang="en-GB" sz="2700" b="1" dirty="0" smtClean="0"/>
            </a:br>
            <a:r>
              <a:rPr lang="en-GB" sz="2700" b="1" dirty="0" smtClean="0"/>
              <a:t/>
            </a:r>
            <a:br>
              <a:rPr lang="en-GB" sz="2700" b="1" dirty="0" smtClean="0"/>
            </a:br>
            <a:r>
              <a:rPr lang="en-GB" sz="2700" b="1" dirty="0" smtClean="0"/>
              <a:t>These two power-driven pleasure craft are meeting in a crossing situation where collision is imminent. According to the Collision Regulations, which statement in this situation is TRUE?</a:t>
            </a:r>
            <a:br>
              <a:rPr lang="en-GB" sz="2700" b="1" dirty="0" smtClean="0"/>
            </a:br>
            <a:r>
              <a:rPr lang="en-GB" sz="2700" b="1" dirty="0" smtClean="0"/>
              <a:t>A   </a:t>
            </a:r>
            <a:r>
              <a:rPr lang="en-GB" sz="2700" dirty="0" smtClean="0"/>
              <a:t>vessel P should alter course to port to avoid the collision</a:t>
            </a:r>
            <a:r>
              <a:rPr lang="en-GB" sz="2700" b="1" dirty="0" smtClean="0"/>
              <a:t/>
            </a:r>
            <a:br>
              <a:rPr lang="en-GB" sz="2700" b="1" dirty="0" smtClean="0"/>
            </a:br>
            <a:r>
              <a:rPr lang="en-GB" sz="2700" b="1" dirty="0" smtClean="0"/>
              <a:t>B   </a:t>
            </a:r>
            <a:r>
              <a:rPr lang="en-GB" sz="2700" dirty="0" smtClean="0"/>
              <a:t>vessel P may maintain her course and speed</a:t>
            </a:r>
            <a:r>
              <a:rPr lang="en-GB" sz="2700" b="1" dirty="0" smtClean="0"/>
              <a:t/>
            </a:r>
            <a:br>
              <a:rPr lang="en-GB" sz="2700" b="1" dirty="0" smtClean="0"/>
            </a:br>
            <a:r>
              <a:rPr lang="en-GB" sz="2700" b="1" dirty="0" smtClean="0"/>
              <a:t>C    </a:t>
            </a:r>
            <a:r>
              <a:rPr lang="en-GB" sz="2700" dirty="0" smtClean="0"/>
              <a:t>vessel Q should have altered course to port much earlier</a:t>
            </a:r>
            <a:r>
              <a:rPr lang="en-GB" sz="2700" b="1" dirty="0" smtClean="0"/>
              <a:t/>
            </a:r>
            <a:br>
              <a:rPr lang="en-GB" sz="2700" b="1" dirty="0" smtClean="0"/>
            </a:br>
            <a:r>
              <a:rPr lang="en-GB" sz="2700" b="1" dirty="0" smtClean="0"/>
              <a:t>D   </a:t>
            </a:r>
            <a:r>
              <a:rPr lang="en-GB" sz="2700" dirty="0" smtClean="0"/>
              <a:t>vessel Q  should have altered course to starboard much earlier</a:t>
            </a:r>
            <a:r>
              <a:rPr lang="en-GB" sz="2700" b="1" dirty="0" smtClean="0"/>
              <a:t/>
            </a:r>
            <a:br>
              <a:rPr lang="en-GB" sz="2700" b="1" dirty="0" smtClean="0"/>
            </a:br>
            <a:r>
              <a:rPr lang="en-GB" sz="2700" b="1" dirty="0" smtClean="0"/>
              <a:t/>
            </a:r>
            <a:br>
              <a:rPr lang="en-GB" sz="2700" b="1" dirty="0" smtClean="0"/>
            </a:br>
            <a:r>
              <a:rPr lang="en-GB" sz="2400" b="1" dirty="0" smtClean="0"/>
              <a:t/>
            </a:r>
            <a:br>
              <a:rPr lang="en-GB" sz="2400" b="1" dirty="0" smtClean="0"/>
            </a:br>
            <a:r>
              <a:rPr lang="en-GB" sz="2400" b="1" dirty="0" smtClean="0"/>
              <a:t/>
            </a:r>
            <a:br>
              <a:rPr lang="en-GB" sz="2400" b="1" dirty="0" smtClean="0"/>
            </a:br>
            <a:r>
              <a:rPr lang="en-GB" sz="2400" b="1" dirty="0" smtClean="0"/>
              <a:t/>
            </a:r>
            <a:br>
              <a:rPr lang="en-GB" sz="2400" b="1" dirty="0" smtClean="0"/>
            </a:br>
            <a:r>
              <a:rPr lang="en-GB" sz="2400" b="1" dirty="0" smtClean="0"/>
              <a:t/>
            </a:r>
            <a:br>
              <a:rPr lang="en-GB" sz="2400" b="1" dirty="0" smtClean="0"/>
            </a:br>
            <a:r>
              <a:rPr lang="en-GB" sz="2400" b="1" dirty="0" smtClean="0"/>
              <a:t/>
            </a:r>
            <a:br>
              <a:rPr lang="en-GB" sz="2400" b="1" dirty="0" smtClean="0"/>
            </a:br>
            <a:r>
              <a:rPr lang="en-GB" sz="2400" b="1" dirty="0" smtClean="0"/>
              <a:t/>
            </a:r>
            <a:br>
              <a:rPr lang="en-GB" sz="2400" b="1" dirty="0" smtClean="0"/>
            </a:br>
            <a:r>
              <a:rPr lang="en-GB" sz="2400" b="1" dirty="0" smtClean="0"/>
              <a:t/>
            </a:r>
            <a:br>
              <a:rPr lang="en-GB" sz="2400" b="1" dirty="0" smtClean="0"/>
            </a:br>
            <a:r>
              <a:rPr lang="en-GB" sz="2400" b="1" dirty="0" smtClean="0"/>
              <a:t/>
            </a:r>
            <a:br>
              <a:rPr lang="en-GB" sz="2400" b="1" dirty="0" smtClean="0"/>
            </a:br>
            <a:r>
              <a:rPr lang="en-GB" sz="2400" b="1" dirty="0" smtClean="0"/>
              <a:t/>
            </a:r>
            <a:br>
              <a:rPr lang="en-GB" sz="2400" b="1" dirty="0" smtClean="0"/>
            </a:br>
            <a:r>
              <a:rPr lang="en-GB" sz="2400" b="1" dirty="0" smtClean="0"/>
              <a:t/>
            </a:r>
            <a:br>
              <a:rPr lang="en-GB" sz="2400" b="1" dirty="0" smtClean="0"/>
            </a:br>
            <a:r>
              <a:rPr lang="en-GB" sz="2400" b="1" dirty="0" smtClean="0"/>
              <a:t/>
            </a:r>
            <a:br>
              <a:rPr lang="en-GB" sz="2400" b="1" dirty="0" smtClean="0"/>
            </a:br>
            <a:r>
              <a:rPr lang="en-GB" sz="2400" b="1" dirty="0" smtClean="0"/>
              <a:t/>
            </a:r>
            <a:br>
              <a:rPr lang="en-GB" sz="2400" b="1" dirty="0" smtClean="0"/>
            </a:br>
            <a:r>
              <a:rPr lang="en-GB" sz="2400" b="1" dirty="0" smtClean="0"/>
              <a:t/>
            </a:r>
            <a:br>
              <a:rPr lang="en-GB" sz="2400" b="1" dirty="0" smtClean="0"/>
            </a:br>
            <a:r>
              <a:rPr lang="en-GB" sz="2400" b="1" dirty="0" smtClean="0"/>
              <a:t/>
            </a:r>
            <a:br>
              <a:rPr lang="en-GB" sz="2400" b="1" dirty="0" smtClean="0"/>
            </a:br>
            <a:endParaRPr lang="en-GB" sz="2400" b="1" dirty="0"/>
          </a:p>
        </p:txBody>
      </p:sp>
      <p:sp>
        <p:nvSpPr>
          <p:cNvPr id="3" name="Subtitle 2"/>
          <p:cNvSpPr>
            <a:spLocks noGrp="1"/>
          </p:cNvSpPr>
          <p:nvPr>
            <p:ph type="subTitle" idx="1"/>
          </p:nvPr>
        </p:nvSpPr>
        <p:spPr>
          <a:xfrm flipH="1">
            <a:off x="9572660" y="3886200"/>
            <a:ext cx="1428760" cy="1752600"/>
          </a:xfrm>
        </p:spPr>
        <p:txBody>
          <a:bodyPr/>
          <a:lstStyle/>
          <a:p>
            <a:endParaRPr lang="en-GB" dirty="0"/>
          </a:p>
        </p:txBody>
      </p:sp>
      <p:pic>
        <p:nvPicPr>
          <p:cNvPr id="4" name="Picture 3" descr="C:\Users\lifebook\Downloads\boats-meeting1.jpg"/>
          <p:cNvPicPr>
            <a:picLocks noChangeAspect="1" noChangeArrowheads="1"/>
          </p:cNvPicPr>
          <p:nvPr/>
        </p:nvPicPr>
        <p:blipFill>
          <a:blip r:embed="rId2"/>
          <a:srcRect/>
          <a:stretch>
            <a:fillRect/>
          </a:stretch>
        </p:blipFill>
        <p:spPr bwMode="auto">
          <a:xfrm>
            <a:off x="2500298" y="785794"/>
            <a:ext cx="4143403" cy="2500330"/>
          </a:xfrm>
          <a:prstGeom prst="rect">
            <a:avLst/>
          </a:prstGeom>
          <a:noFill/>
        </p:spPr>
      </p:pic>
      <p:sp>
        <p:nvSpPr>
          <p:cNvPr id="5" name="TextBox 4"/>
          <p:cNvSpPr txBox="1"/>
          <p:nvPr/>
        </p:nvSpPr>
        <p:spPr>
          <a:xfrm>
            <a:off x="3000364" y="2143116"/>
            <a:ext cx="357190" cy="400110"/>
          </a:xfrm>
          <a:prstGeom prst="rect">
            <a:avLst/>
          </a:prstGeom>
          <a:noFill/>
        </p:spPr>
        <p:txBody>
          <a:bodyPr wrap="square" rtlCol="0">
            <a:spAutoFit/>
          </a:bodyPr>
          <a:lstStyle/>
          <a:p>
            <a:r>
              <a:rPr lang="en-GB" sz="2000" b="1" dirty="0" smtClean="0">
                <a:solidFill>
                  <a:srgbClr val="FFFF00"/>
                </a:solidFill>
              </a:rPr>
              <a:t>P</a:t>
            </a:r>
            <a:endParaRPr lang="en-GB" sz="2000" b="1" dirty="0">
              <a:solidFill>
                <a:srgbClr val="FFFF00"/>
              </a:solidFill>
            </a:endParaRPr>
          </a:p>
        </p:txBody>
      </p:sp>
      <p:sp>
        <p:nvSpPr>
          <p:cNvPr id="6" name="TextBox 5"/>
          <p:cNvSpPr txBox="1"/>
          <p:nvPr/>
        </p:nvSpPr>
        <p:spPr>
          <a:xfrm>
            <a:off x="5000628" y="2000240"/>
            <a:ext cx="357790" cy="400110"/>
          </a:xfrm>
          <a:prstGeom prst="rect">
            <a:avLst/>
          </a:prstGeom>
          <a:noFill/>
        </p:spPr>
        <p:txBody>
          <a:bodyPr wrap="none" rtlCol="0">
            <a:spAutoFit/>
          </a:bodyPr>
          <a:lstStyle/>
          <a:p>
            <a:r>
              <a:rPr lang="en-GB" sz="2000" b="1" dirty="0" smtClean="0">
                <a:solidFill>
                  <a:srgbClr val="FFFF00"/>
                </a:solidFill>
              </a:rPr>
              <a:t>Q</a:t>
            </a:r>
            <a:endParaRPr lang="en-GB" sz="2000" b="1" dirty="0">
              <a:solidFill>
                <a:srgbClr val="FFFF00"/>
              </a:solidFill>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7158" y="285728"/>
            <a:ext cx="8501122" cy="6286543"/>
          </a:xfrm>
        </p:spPr>
        <p:txBody>
          <a:bodyPr>
            <a:normAutofit/>
          </a:bodyPr>
          <a:lstStyle/>
          <a:p>
            <a:pPr algn="l"/>
            <a:r>
              <a:rPr lang="en-GB" sz="2800" b="1" dirty="0" smtClean="0"/>
              <a:t>                                    Question 11</a:t>
            </a:r>
            <a:br>
              <a:rPr lang="en-GB" sz="2800" b="1" dirty="0" smtClean="0"/>
            </a:br>
            <a:r>
              <a:rPr lang="en-GB" sz="2800" b="1" dirty="0" smtClean="0"/>
              <a:t/>
            </a:r>
            <a:br>
              <a:rPr lang="en-GB" sz="2800" b="1" dirty="0" smtClean="0"/>
            </a:br>
            <a:r>
              <a:rPr lang="en-GB" sz="2800" b="1" dirty="0" smtClean="0"/>
              <a:t>You are operating a pleasure craft at 17 knots on high seas when suddenly the visibility reduces drastically. You come down in speed to 6 knots. What is the next action you would take in an </a:t>
            </a:r>
            <a:r>
              <a:rPr lang="en-GB" sz="2800" b="1" i="1" u="sng" dirty="0" smtClean="0"/>
              <a:t>order of priority</a:t>
            </a:r>
            <a:r>
              <a:rPr lang="en-GB" sz="2800" b="1" dirty="0" smtClean="0"/>
              <a:t>?</a:t>
            </a:r>
            <a:br>
              <a:rPr lang="en-GB" sz="2800" b="1" dirty="0" smtClean="0"/>
            </a:br>
            <a:r>
              <a:rPr lang="en-GB" sz="2800" b="1" dirty="0" smtClean="0"/>
              <a:t/>
            </a:r>
            <a:br>
              <a:rPr lang="en-GB" sz="2800" b="1" dirty="0" smtClean="0"/>
            </a:br>
            <a:r>
              <a:rPr lang="en-GB" sz="2800" b="1" dirty="0" smtClean="0"/>
              <a:t>A   </a:t>
            </a:r>
            <a:r>
              <a:rPr lang="en-GB" sz="2800" dirty="0" smtClean="0"/>
              <a:t>Plot a GPS fix on the chart</a:t>
            </a:r>
            <a:r>
              <a:rPr lang="en-GB" sz="2800" b="1" dirty="0" smtClean="0"/>
              <a:t/>
            </a:r>
            <a:br>
              <a:rPr lang="en-GB" sz="2800" b="1" dirty="0" smtClean="0"/>
            </a:br>
            <a:r>
              <a:rPr lang="en-GB" sz="2800" b="1" dirty="0" smtClean="0"/>
              <a:t>B   </a:t>
            </a:r>
            <a:r>
              <a:rPr lang="en-GB" sz="2800" dirty="0" smtClean="0"/>
              <a:t>Call all vessels on channel 16 and request their GPS positions</a:t>
            </a:r>
            <a:r>
              <a:rPr lang="en-GB" sz="2800" b="1" dirty="0" smtClean="0"/>
              <a:t/>
            </a:r>
            <a:br>
              <a:rPr lang="en-GB" sz="2800" b="1" dirty="0" smtClean="0"/>
            </a:br>
            <a:r>
              <a:rPr lang="en-GB" sz="2800" b="1" dirty="0" smtClean="0"/>
              <a:t>C   </a:t>
            </a:r>
            <a:r>
              <a:rPr lang="en-GB" sz="2800" dirty="0" smtClean="0"/>
              <a:t>Switch on navigational lights</a:t>
            </a:r>
            <a:r>
              <a:rPr lang="en-GB" sz="2800" b="1" dirty="0" smtClean="0"/>
              <a:t/>
            </a:r>
            <a:br>
              <a:rPr lang="en-GB" sz="2800" b="1" dirty="0" smtClean="0"/>
            </a:br>
            <a:r>
              <a:rPr lang="en-GB" sz="2800" b="1" dirty="0" smtClean="0"/>
              <a:t>D   </a:t>
            </a:r>
            <a:r>
              <a:rPr lang="en-GB" sz="2800" dirty="0" smtClean="0"/>
              <a:t>Switch on the radar</a:t>
            </a:r>
            <a:endParaRPr lang="en-GB" sz="2800" b="1" dirty="0"/>
          </a:p>
        </p:txBody>
      </p:sp>
      <p:sp>
        <p:nvSpPr>
          <p:cNvPr id="3" name="Subtitle 2"/>
          <p:cNvSpPr>
            <a:spLocks noGrp="1"/>
          </p:cNvSpPr>
          <p:nvPr>
            <p:ph type="subTitle" idx="1"/>
          </p:nvPr>
        </p:nvSpPr>
        <p:spPr>
          <a:xfrm flipH="1">
            <a:off x="9715536" y="3886200"/>
            <a:ext cx="1571636" cy="1752600"/>
          </a:xfrm>
        </p:spPr>
        <p:txBody>
          <a:bodyPr/>
          <a:lstStyle/>
          <a:p>
            <a:endParaRPr lang="en-GB"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85720" y="285728"/>
            <a:ext cx="8501122" cy="6357981"/>
          </a:xfrm>
        </p:spPr>
        <p:txBody>
          <a:bodyPr>
            <a:normAutofit fontScale="90000"/>
          </a:bodyPr>
          <a:lstStyle/>
          <a:p>
            <a:pPr algn="l"/>
            <a:r>
              <a:rPr lang="en-GB" sz="2800" b="1" dirty="0" smtClean="0"/>
              <a:t/>
            </a:r>
            <a:br>
              <a:rPr lang="en-GB" sz="2800" b="1" dirty="0" smtClean="0"/>
            </a:br>
            <a:r>
              <a:rPr lang="en-GB" sz="2800" b="1" dirty="0" smtClean="0"/>
              <a:t/>
            </a:r>
            <a:br>
              <a:rPr lang="en-GB" sz="2800" b="1" dirty="0" smtClean="0"/>
            </a:br>
            <a:r>
              <a:rPr lang="en-GB" sz="2800" b="1" dirty="0" smtClean="0"/>
              <a:t/>
            </a:r>
            <a:br>
              <a:rPr lang="en-GB" sz="2800" b="1" dirty="0" smtClean="0"/>
            </a:br>
            <a:r>
              <a:rPr lang="en-GB" sz="2800" b="1" dirty="0" smtClean="0"/>
              <a:t/>
            </a:r>
            <a:br>
              <a:rPr lang="en-GB" sz="2800" b="1" dirty="0" smtClean="0"/>
            </a:br>
            <a:r>
              <a:rPr lang="en-GB" sz="2800" b="1" dirty="0" smtClean="0"/>
              <a:t/>
            </a:r>
            <a:br>
              <a:rPr lang="en-GB" sz="2800" b="1" dirty="0" smtClean="0"/>
            </a:br>
            <a:r>
              <a:rPr lang="en-GB" sz="2800" b="1" dirty="0" smtClean="0"/>
              <a:t/>
            </a:r>
            <a:br>
              <a:rPr lang="en-GB" sz="2800" b="1" dirty="0" smtClean="0"/>
            </a:br>
            <a:r>
              <a:rPr lang="en-GB" sz="2800" b="1" dirty="0" smtClean="0"/>
              <a:t/>
            </a:r>
            <a:br>
              <a:rPr lang="en-GB" sz="2800" b="1" dirty="0" smtClean="0"/>
            </a:br>
            <a:r>
              <a:rPr lang="en-GB" sz="2800" b="1" dirty="0" smtClean="0"/>
              <a:t/>
            </a:r>
            <a:br>
              <a:rPr lang="en-GB" sz="2800" b="1" dirty="0" smtClean="0"/>
            </a:br>
            <a:r>
              <a:rPr lang="en-GB" sz="2800" b="1" dirty="0" smtClean="0"/>
              <a:t/>
            </a:r>
            <a:br>
              <a:rPr lang="en-GB" sz="2800" b="1" dirty="0" smtClean="0"/>
            </a:br>
            <a:r>
              <a:rPr lang="en-GB" sz="2800" b="1" dirty="0" smtClean="0"/>
              <a:t/>
            </a:r>
            <a:br>
              <a:rPr lang="en-GB" sz="2800" b="1" dirty="0" smtClean="0"/>
            </a:br>
            <a:r>
              <a:rPr lang="en-GB" sz="2800" b="1" dirty="0" smtClean="0"/>
              <a:t/>
            </a:r>
            <a:br>
              <a:rPr lang="en-GB" sz="2800" b="1" dirty="0" smtClean="0"/>
            </a:br>
            <a:r>
              <a:rPr lang="en-GB" sz="2800" b="1" dirty="0" smtClean="0"/>
              <a:t/>
            </a:r>
            <a:br>
              <a:rPr lang="en-GB" sz="2800" b="1" dirty="0" smtClean="0"/>
            </a:br>
            <a:r>
              <a:rPr lang="en-GB" sz="2800" b="1" dirty="0" smtClean="0"/>
              <a:t/>
            </a:r>
            <a:br>
              <a:rPr lang="en-GB" sz="2800" b="1" dirty="0" smtClean="0"/>
            </a:br>
            <a:r>
              <a:rPr lang="en-GB" sz="2800" b="1" dirty="0" smtClean="0"/>
              <a:t/>
            </a:r>
            <a:br>
              <a:rPr lang="en-GB" sz="2800" b="1" dirty="0" smtClean="0"/>
            </a:br>
            <a:r>
              <a:rPr lang="en-GB" sz="2800" b="1" dirty="0" smtClean="0"/>
              <a:t/>
            </a:r>
            <a:br>
              <a:rPr lang="en-GB" sz="2800" b="1" dirty="0" smtClean="0"/>
            </a:br>
            <a:r>
              <a:rPr lang="en-GB" sz="2800" b="1" dirty="0" smtClean="0"/>
              <a:t>                                             Question 12</a:t>
            </a:r>
            <a:br>
              <a:rPr lang="en-GB" sz="2800" b="1" dirty="0" smtClean="0"/>
            </a:br>
            <a:r>
              <a:rPr lang="en-GB" sz="2800" b="1" dirty="0" smtClean="0"/>
              <a:t>You see this light at about 1 nautical  off your port bow when you are on course 050 C.</a:t>
            </a:r>
            <a:br>
              <a:rPr lang="en-GB" sz="2800" b="1" dirty="0" smtClean="0"/>
            </a:br>
            <a:r>
              <a:rPr lang="en-GB" sz="2800" b="1" dirty="0" smtClean="0"/>
              <a:t/>
            </a:r>
            <a:br>
              <a:rPr lang="en-GB" sz="2800" b="1" dirty="0" smtClean="0"/>
            </a:br>
            <a:r>
              <a:rPr lang="en-GB" sz="2800" b="1" dirty="0" smtClean="0"/>
              <a:t/>
            </a:r>
            <a:br>
              <a:rPr lang="en-GB" sz="2800" b="1" dirty="0" smtClean="0"/>
            </a:br>
            <a:r>
              <a:rPr lang="en-GB" sz="2800" b="1" dirty="0" smtClean="0"/>
              <a:t/>
            </a:r>
            <a:br>
              <a:rPr lang="en-GB" sz="2800" b="1" dirty="0" smtClean="0"/>
            </a:br>
            <a:r>
              <a:rPr lang="en-GB" sz="2800" b="1" dirty="0" smtClean="0"/>
              <a:t/>
            </a:r>
            <a:br>
              <a:rPr lang="en-GB" sz="2800" b="1" dirty="0" smtClean="0"/>
            </a:br>
            <a:r>
              <a:rPr lang="en-GB" sz="2800" b="1" dirty="0" smtClean="0"/>
              <a:t/>
            </a:r>
            <a:br>
              <a:rPr lang="en-GB" sz="2800" b="1" dirty="0" smtClean="0"/>
            </a:br>
            <a:r>
              <a:rPr lang="en-GB" sz="2800" b="1" dirty="0" smtClean="0"/>
              <a:t/>
            </a:r>
            <a:br>
              <a:rPr lang="en-GB" sz="2800" b="1" dirty="0" smtClean="0"/>
            </a:br>
            <a:r>
              <a:rPr lang="en-GB" sz="2800" b="1" dirty="0" smtClean="0"/>
              <a:t/>
            </a:r>
            <a:br>
              <a:rPr lang="en-GB" sz="2800" b="1" dirty="0" smtClean="0"/>
            </a:br>
            <a:r>
              <a:rPr lang="en-GB" sz="2800" b="1" dirty="0" smtClean="0"/>
              <a:t>As a competent skipper, you must</a:t>
            </a:r>
            <a:br>
              <a:rPr lang="en-GB" sz="2800" b="1" dirty="0" smtClean="0"/>
            </a:br>
            <a:r>
              <a:rPr lang="en-GB" sz="2800" b="1" dirty="0" smtClean="0"/>
              <a:t/>
            </a:r>
            <a:br>
              <a:rPr lang="en-GB" sz="2800" b="1" dirty="0" smtClean="0"/>
            </a:br>
            <a:r>
              <a:rPr lang="en-GB" sz="2800" b="1" dirty="0" smtClean="0"/>
              <a:t>A   </a:t>
            </a:r>
            <a:r>
              <a:rPr lang="en-GB" sz="2800" dirty="0" smtClean="0"/>
              <a:t>maintain your course and speed</a:t>
            </a:r>
            <a:r>
              <a:rPr lang="en-GB" sz="2800" b="1" dirty="0" smtClean="0"/>
              <a:t>  </a:t>
            </a:r>
            <a:br>
              <a:rPr lang="en-GB" sz="2800" b="1" dirty="0" smtClean="0"/>
            </a:br>
            <a:r>
              <a:rPr lang="en-GB" sz="2800" b="1" dirty="0" smtClean="0"/>
              <a:t>B  </a:t>
            </a:r>
            <a:r>
              <a:rPr lang="en-GB" sz="2800" dirty="0" smtClean="0"/>
              <a:t> come to course  350 C to keep well clear of her</a:t>
            </a:r>
            <a:r>
              <a:rPr lang="en-GB" sz="2800" b="1" dirty="0" smtClean="0"/>
              <a:t/>
            </a:r>
            <a:br>
              <a:rPr lang="en-GB" sz="2800" b="1" dirty="0" smtClean="0"/>
            </a:br>
            <a:r>
              <a:rPr lang="en-GB" sz="2800" b="1" dirty="0" smtClean="0"/>
              <a:t>C    </a:t>
            </a:r>
            <a:r>
              <a:rPr lang="en-GB" sz="2800" dirty="0" smtClean="0"/>
              <a:t>come to course  110 C to keep well clear of her</a:t>
            </a:r>
            <a:r>
              <a:rPr lang="en-GB" sz="2800" b="1" dirty="0" smtClean="0"/>
              <a:t/>
            </a:r>
            <a:br>
              <a:rPr lang="en-GB" sz="2800" b="1" dirty="0" smtClean="0"/>
            </a:br>
            <a:r>
              <a:rPr lang="en-GB" sz="2800" b="1" dirty="0" smtClean="0"/>
              <a:t>D   </a:t>
            </a:r>
            <a:r>
              <a:rPr lang="en-GB" sz="2800" dirty="0" smtClean="0"/>
              <a:t>call her on channel 16 to know her intentions</a:t>
            </a:r>
            <a:r>
              <a:rPr lang="en-GB" sz="2800" b="1" dirty="0" smtClean="0"/>
              <a:t/>
            </a:r>
            <a:br>
              <a:rPr lang="en-GB" sz="2800" b="1" dirty="0" smtClean="0"/>
            </a:br>
            <a:r>
              <a:rPr lang="en-GB" sz="2800" b="1" dirty="0" smtClean="0"/>
              <a:t/>
            </a:r>
            <a:br>
              <a:rPr lang="en-GB" sz="2800" b="1" dirty="0" smtClean="0"/>
            </a:br>
            <a:r>
              <a:rPr lang="en-GB" sz="2800" b="1" dirty="0" smtClean="0"/>
              <a:t/>
            </a:r>
            <a:br>
              <a:rPr lang="en-GB" sz="2800" b="1" dirty="0" smtClean="0"/>
            </a:br>
            <a:r>
              <a:rPr lang="en-GB" sz="2800" b="1" dirty="0" smtClean="0"/>
              <a:t/>
            </a:r>
            <a:br>
              <a:rPr lang="en-GB" sz="2800" b="1" dirty="0" smtClean="0"/>
            </a:br>
            <a:r>
              <a:rPr lang="en-GB" sz="2800" b="1" dirty="0" smtClean="0"/>
              <a:t/>
            </a:r>
            <a:br>
              <a:rPr lang="en-GB" sz="2800" b="1" dirty="0" smtClean="0"/>
            </a:br>
            <a:r>
              <a:rPr lang="en-GB" sz="2800" b="1" dirty="0" smtClean="0"/>
              <a:t/>
            </a:r>
            <a:br>
              <a:rPr lang="en-GB" sz="2800" b="1" dirty="0" smtClean="0"/>
            </a:br>
            <a:r>
              <a:rPr lang="en-GB" sz="2800" b="1" dirty="0" smtClean="0"/>
              <a:t/>
            </a:r>
            <a:br>
              <a:rPr lang="en-GB" sz="2800" b="1" dirty="0" smtClean="0"/>
            </a:br>
            <a:r>
              <a:rPr lang="en-GB" sz="2800" b="1" dirty="0" smtClean="0"/>
              <a:t/>
            </a:r>
            <a:br>
              <a:rPr lang="en-GB" sz="2800" b="1" dirty="0" smtClean="0"/>
            </a:br>
            <a:r>
              <a:rPr lang="en-GB" sz="2800" b="1" dirty="0" smtClean="0"/>
              <a:t/>
            </a:r>
            <a:br>
              <a:rPr lang="en-GB" sz="2800" b="1" dirty="0" smtClean="0"/>
            </a:br>
            <a:r>
              <a:rPr lang="en-GB" sz="2800" b="1" dirty="0" smtClean="0"/>
              <a:t/>
            </a:r>
            <a:br>
              <a:rPr lang="en-GB" sz="2800" b="1" dirty="0" smtClean="0"/>
            </a:br>
            <a:r>
              <a:rPr lang="en-GB" sz="2800" b="1" dirty="0" smtClean="0"/>
              <a:t/>
            </a:r>
            <a:br>
              <a:rPr lang="en-GB" sz="2800" b="1" dirty="0" smtClean="0"/>
            </a:br>
            <a:r>
              <a:rPr lang="en-GB" sz="2800" b="1" dirty="0" smtClean="0"/>
              <a:t/>
            </a:r>
            <a:br>
              <a:rPr lang="en-GB" sz="2800" b="1" dirty="0" smtClean="0"/>
            </a:br>
            <a:r>
              <a:rPr lang="en-GB" sz="2800" b="1" dirty="0" smtClean="0"/>
              <a:t/>
            </a:r>
            <a:br>
              <a:rPr lang="en-GB" sz="2800" b="1" dirty="0" smtClean="0"/>
            </a:br>
            <a:r>
              <a:rPr lang="en-GB" sz="2800" b="1" dirty="0" smtClean="0"/>
              <a:t/>
            </a:r>
            <a:br>
              <a:rPr lang="en-GB" sz="2800" b="1" dirty="0" smtClean="0"/>
            </a:br>
            <a:endParaRPr lang="en-GB" sz="2800" b="1" dirty="0"/>
          </a:p>
        </p:txBody>
      </p:sp>
      <p:sp>
        <p:nvSpPr>
          <p:cNvPr id="3" name="Subtitle 2"/>
          <p:cNvSpPr>
            <a:spLocks noGrp="1"/>
          </p:cNvSpPr>
          <p:nvPr>
            <p:ph type="subTitle" idx="1"/>
          </p:nvPr>
        </p:nvSpPr>
        <p:spPr>
          <a:xfrm flipH="1">
            <a:off x="9501222" y="3886200"/>
            <a:ext cx="857256" cy="1752600"/>
          </a:xfrm>
        </p:spPr>
        <p:txBody>
          <a:bodyPr/>
          <a:lstStyle/>
          <a:p>
            <a:endParaRPr lang="en-GB" dirty="0"/>
          </a:p>
        </p:txBody>
      </p:sp>
      <p:sp>
        <p:nvSpPr>
          <p:cNvPr id="4" name="Rectangle 3"/>
          <p:cNvSpPr/>
          <p:nvPr/>
        </p:nvSpPr>
        <p:spPr>
          <a:xfrm>
            <a:off x="3428992" y="2214554"/>
            <a:ext cx="2557474" cy="214314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Oval 4"/>
          <p:cNvSpPr/>
          <p:nvPr/>
        </p:nvSpPr>
        <p:spPr>
          <a:xfrm>
            <a:off x="4643438" y="3143248"/>
            <a:ext cx="142876" cy="142876"/>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7158" y="285728"/>
            <a:ext cx="8501122" cy="6286543"/>
          </a:xfrm>
        </p:spPr>
        <p:txBody>
          <a:bodyPr>
            <a:normAutofit fontScale="90000"/>
          </a:bodyPr>
          <a:lstStyle/>
          <a:p>
            <a:pPr algn="l"/>
            <a:r>
              <a:rPr lang="en-GB" sz="2800" b="1" dirty="0" smtClean="0"/>
              <a:t>                                         Question 13</a:t>
            </a:r>
            <a:br>
              <a:rPr lang="en-GB" sz="2800" b="1" dirty="0" smtClean="0"/>
            </a:br>
            <a:r>
              <a:rPr lang="en-GB" sz="2800" b="1" dirty="0" smtClean="0"/>
              <a:t/>
            </a:r>
            <a:br>
              <a:rPr lang="en-GB" sz="2800" b="1" dirty="0" smtClean="0"/>
            </a:br>
            <a:r>
              <a:rPr lang="en-GB" sz="2800" b="1" dirty="0" smtClean="0"/>
              <a:t/>
            </a:r>
            <a:br>
              <a:rPr lang="en-GB" sz="2800" b="1" dirty="0" smtClean="0"/>
            </a:br>
            <a:r>
              <a:rPr lang="en-GB" sz="2800" b="1" dirty="0" smtClean="0"/>
              <a:t/>
            </a:r>
            <a:br>
              <a:rPr lang="en-GB" sz="2800" b="1" dirty="0" smtClean="0"/>
            </a:br>
            <a:r>
              <a:rPr lang="en-GB" sz="2800" b="1" dirty="0" smtClean="0"/>
              <a:t/>
            </a:r>
            <a:br>
              <a:rPr lang="en-GB" sz="2800" b="1" dirty="0" smtClean="0"/>
            </a:br>
            <a:r>
              <a:rPr lang="en-GB" sz="2800" b="1" dirty="0" smtClean="0"/>
              <a:t/>
            </a:r>
            <a:br>
              <a:rPr lang="en-GB" sz="2800" b="1" dirty="0" smtClean="0"/>
            </a:br>
            <a:r>
              <a:rPr lang="en-GB" sz="2800" b="1" dirty="0" smtClean="0"/>
              <a:t/>
            </a:r>
            <a:br>
              <a:rPr lang="en-GB" sz="2800" b="1" dirty="0" smtClean="0"/>
            </a:br>
            <a:r>
              <a:rPr lang="en-GB" sz="2800" b="1" dirty="0" smtClean="0"/>
              <a:t/>
            </a:r>
            <a:br>
              <a:rPr lang="en-GB" sz="2800" b="1" dirty="0" smtClean="0"/>
            </a:br>
            <a:r>
              <a:rPr lang="en-GB" sz="2800" b="1" dirty="0" smtClean="0"/>
              <a:t>Which statement is TRUE concerning this vessel ?</a:t>
            </a:r>
            <a:br>
              <a:rPr lang="en-GB" sz="2800" b="1" dirty="0" smtClean="0"/>
            </a:br>
            <a:r>
              <a:rPr lang="en-GB" sz="2800" b="1" dirty="0" smtClean="0"/>
              <a:t>A </a:t>
            </a:r>
            <a:r>
              <a:rPr lang="en-GB" sz="2800" dirty="0" smtClean="0"/>
              <a:t> she cannot deviate from her course because of her deep draught </a:t>
            </a:r>
            <a:r>
              <a:rPr lang="en-GB" sz="2800" b="1" dirty="0" smtClean="0"/>
              <a:t/>
            </a:r>
            <a:br>
              <a:rPr lang="en-GB" sz="2800" b="1" dirty="0" smtClean="0"/>
            </a:br>
            <a:r>
              <a:rPr lang="en-GB" sz="2800" b="1" dirty="0" smtClean="0"/>
              <a:t>B  </a:t>
            </a:r>
            <a:r>
              <a:rPr lang="en-GB" sz="2800" dirty="0" smtClean="0"/>
              <a:t>she is aground</a:t>
            </a:r>
            <a:r>
              <a:rPr lang="en-GB" sz="2800" b="1" dirty="0" smtClean="0"/>
              <a:t/>
            </a:r>
            <a:br>
              <a:rPr lang="en-GB" sz="2800" b="1" dirty="0" smtClean="0"/>
            </a:br>
            <a:r>
              <a:rPr lang="en-GB" sz="2800" b="1" dirty="0" smtClean="0"/>
              <a:t>C   </a:t>
            </a:r>
            <a:r>
              <a:rPr lang="en-GB" sz="2800" dirty="0" smtClean="0"/>
              <a:t>she cannot manoeuvre to avoid a collision because of the work she is doing</a:t>
            </a:r>
            <a:r>
              <a:rPr lang="en-GB" sz="2800" b="1" dirty="0" smtClean="0"/>
              <a:t/>
            </a:r>
            <a:br>
              <a:rPr lang="en-GB" sz="2800" b="1" dirty="0" smtClean="0"/>
            </a:br>
            <a:r>
              <a:rPr lang="en-GB" sz="2800" b="1" dirty="0" smtClean="0"/>
              <a:t>D  </a:t>
            </a:r>
            <a:r>
              <a:rPr lang="en-GB" sz="2800" dirty="0" smtClean="0"/>
              <a:t>she cannot manoeuvre to avoid a collision because of a technical problem</a:t>
            </a:r>
            <a:endParaRPr lang="en-GB" sz="2800" b="1" dirty="0"/>
          </a:p>
        </p:txBody>
      </p:sp>
      <p:sp>
        <p:nvSpPr>
          <p:cNvPr id="3" name="Subtitle 2"/>
          <p:cNvSpPr>
            <a:spLocks noGrp="1"/>
          </p:cNvSpPr>
          <p:nvPr>
            <p:ph type="subTitle" idx="1"/>
          </p:nvPr>
        </p:nvSpPr>
        <p:spPr>
          <a:xfrm flipH="1">
            <a:off x="9429784" y="3886200"/>
            <a:ext cx="3143272" cy="1752600"/>
          </a:xfrm>
        </p:spPr>
        <p:txBody>
          <a:bodyPr/>
          <a:lstStyle/>
          <a:p>
            <a:endParaRPr lang="en-GB" dirty="0"/>
          </a:p>
        </p:txBody>
      </p:sp>
      <p:sp>
        <p:nvSpPr>
          <p:cNvPr id="4" name="Rectangle 3"/>
          <p:cNvSpPr/>
          <p:nvPr/>
        </p:nvSpPr>
        <p:spPr>
          <a:xfrm>
            <a:off x="2786050" y="1000108"/>
            <a:ext cx="3786214" cy="2071702"/>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Oval 4"/>
          <p:cNvSpPr/>
          <p:nvPr/>
        </p:nvSpPr>
        <p:spPr>
          <a:xfrm>
            <a:off x="4286248" y="1428736"/>
            <a:ext cx="142876" cy="214314"/>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Oval 5"/>
          <p:cNvSpPr/>
          <p:nvPr/>
        </p:nvSpPr>
        <p:spPr>
          <a:xfrm>
            <a:off x="4286248" y="1714488"/>
            <a:ext cx="142876" cy="214314"/>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Oval 6"/>
          <p:cNvSpPr/>
          <p:nvPr/>
        </p:nvSpPr>
        <p:spPr>
          <a:xfrm>
            <a:off x="3786182" y="2285992"/>
            <a:ext cx="142876" cy="214314"/>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85720" y="357166"/>
            <a:ext cx="8501122" cy="6215105"/>
          </a:xfrm>
        </p:spPr>
        <p:txBody>
          <a:bodyPr>
            <a:normAutofit/>
          </a:bodyPr>
          <a:lstStyle/>
          <a:p>
            <a:pPr algn="l"/>
            <a:r>
              <a:rPr lang="en-GB" sz="2800" b="1" dirty="0" smtClean="0"/>
              <a:t>                                        Question 14</a:t>
            </a:r>
            <a:br>
              <a:rPr lang="en-GB" sz="2800" b="1" dirty="0" smtClean="0"/>
            </a:br>
            <a:r>
              <a:rPr lang="en-GB" sz="2800" b="1" dirty="0" smtClean="0"/>
              <a:t/>
            </a:r>
            <a:br>
              <a:rPr lang="en-GB" sz="2800" b="1" dirty="0" smtClean="0"/>
            </a:br>
            <a:r>
              <a:rPr lang="en-GB" sz="2800" b="1" dirty="0" smtClean="0"/>
              <a:t>You are nearing a bend in a harbour and because of buildings you cannot see whether there is traffic on the other side. You must therefore</a:t>
            </a:r>
            <a:br>
              <a:rPr lang="en-GB" sz="2800" b="1" dirty="0" smtClean="0"/>
            </a:br>
            <a:r>
              <a:rPr lang="en-GB" sz="2800" b="1" dirty="0" smtClean="0"/>
              <a:t/>
            </a:r>
            <a:br>
              <a:rPr lang="en-GB" sz="2800" b="1" dirty="0" smtClean="0"/>
            </a:br>
            <a:r>
              <a:rPr lang="en-GB" sz="2800" b="1" dirty="0" smtClean="0"/>
              <a:t>A  </a:t>
            </a:r>
            <a:r>
              <a:rPr lang="en-GB" sz="2800" dirty="0" smtClean="0"/>
              <a:t>sound one prolonged blast</a:t>
            </a:r>
            <a:br>
              <a:rPr lang="en-GB" sz="2800" dirty="0" smtClean="0"/>
            </a:br>
            <a:r>
              <a:rPr lang="en-GB" sz="2800" b="1" dirty="0" smtClean="0"/>
              <a:t/>
            </a:r>
            <a:br>
              <a:rPr lang="en-GB" sz="2800" b="1" dirty="0" smtClean="0"/>
            </a:br>
            <a:r>
              <a:rPr lang="en-GB" sz="2800" b="1" dirty="0" smtClean="0"/>
              <a:t>B   </a:t>
            </a:r>
            <a:r>
              <a:rPr lang="en-GB" sz="2800" dirty="0" smtClean="0"/>
              <a:t>sound at least five short and rapid blasts</a:t>
            </a:r>
            <a:br>
              <a:rPr lang="en-GB" sz="2800" dirty="0" smtClean="0"/>
            </a:br>
            <a:r>
              <a:rPr lang="en-GB" sz="2800" b="1" dirty="0" smtClean="0"/>
              <a:t/>
            </a:r>
            <a:br>
              <a:rPr lang="en-GB" sz="2800" b="1" dirty="0" smtClean="0"/>
            </a:br>
            <a:r>
              <a:rPr lang="en-GB" sz="2800" b="1" dirty="0" smtClean="0"/>
              <a:t>C   </a:t>
            </a:r>
            <a:r>
              <a:rPr lang="en-GB" sz="2800" dirty="0" smtClean="0"/>
              <a:t>sound three short blasts</a:t>
            </a:r>
            <a:br>
              <a:rPr lang="en-GB" sz="2800" dirty="0" smtClean="0"/>
            </a:br>
            <a:r>
              <a:rPr lang="en-GB" sz="2800" b="1" dirty="0" smtClean="0"/>
              <a:t/>
            </a:r>
            <a:br>
              <a:rPr lang="en-GB" sz="2800" b="1" dirty="0" smtClean="0"/>
            </a:br>
            <a:r>
              <a:rPr lang="en-GB" sz="2800" b="1" dirty="0" smtClean="0"/>
              <a:t>D   </a:t>
            </a:r>
            <a:r>
              <a:rPr lang="en-GB" sz="2800" dirty="0" smtClean="0"/>
              <a:t>sound one short blast</a:t>
            </a:r>
            <a:endParaRPr lang="en-GB" sz="2800" b="1" dirty="0"/>
          </a:p>
        </p:txBody>
      </p:sp>
      <p:sp>
        <p:nvSpPr>
          <p:cNvPr id="3" name="Subtitle 2"/>
          <p:cNvSpPr>
            <a:spLocks noGrp="1"/>
          </p:cNvSpPr>
          <p:nvPr>
            <p:ph type="subTitle" idx="1"/>
          </p:nvPr>
        </p:nvSpPr>
        <p:spPr>
          <a:xfrm flipH="1">
            <a:off x="9144000" y="3886200"/>
            <a:ext cx="1143040" cy="1752600"/>
          </a:xfrm>
        </p:spPr>
        <p:txBody>
          <a:bodyPr/>
          <a:lstStyle/>
          <a:p>
            <a:endParaRPr lang="en-GB"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7158" y="357166"/>
            <a:ext cx="8358246" cy="6215105"/>
          </a:xfrm>
        </p:spPr>
        <p:txBody>
          <a:bodyPr>
            <a:normAutofit/>
          </a:bodyPr>
          <a:lstStyle/>
          <a:p>
            <a:pPr algn="l"/>
            <a:r>
              <a:rPr lang="en-GB" sz="2800" b="1" dirty="0" smtClean="0"/>
              <a:t>                                     Question 15</a:t>
            </a:r>
            <a:br>
              <a:rPr lang="en-GB" sz="2800" b="1" dirty="0" smtClean="0"/>
            </a:br>
            <a:r>
              <a:rPr lang="en-GB" sz="2800" b="1" dirty="0" smtClean="0"/>
              <a:t/>
            </a:r>
            <a:br>
              <a:rPr lang="en-GB" sz="2800" b="1" dirty="0" smtClean="0"/>
            </a:br>
            <a:r>
              <a:rPr lang="en-GB" sz="2800" b="1" dirty="0" smtClean="0"/>
              <a:t>The direction of ocean current around Mauritius is primarily</a:t>
            </a:r>
            <a:br>
              <a:rPr lang="en-GB" sz="2800" b="1" dirty="0" smtClean="0"/>
            </a:br>
            <a:r>
              <a:rPr lang="en-GB" sz="2800" b="1" dirty="0" smtClean="0"/>
              <a:t/>
            </a:r>
            <a:br>
              <a:rPr lang="en-GB" sz="2800" b="1" dirty="0" smtClean="0"/>
            </a:br>
            <a:r>
              <a:rPr lang="en-GB" sz="2800" b="1" dirty="0" smtClean="0"/>
              <a:t>A </a:t>
            </a:r>
            <a:r>
              <a:rPr lang="en-GB" sz="2800" dirty="0" smtClean="0"/>
              <a:t> Northerly</a:t>
            </a:r>
            <a:r>
              <a:rPr lang="en-GB" sz="2800" b="1" dirty="0" smtClean="0"/>
              <a:t/>
            </a:r>
            <a:br>
              <a:rPr lang="en-GB" sz="2800" b="1" dirty="0" smtClean="0"/>
            </a:br>
            <a:r>
              <a:rPr lang="en-GB" sz="2800" b="1" dirty="0" smtClean="0"/>
              <a:t/>
            </a:r>
            <a:br>
              <a:rPr lang="en-GB" sz="2800" b="1" dirty="0" smtClean="0"/>
            </a:br>
            <a:r>
              <a:rPr lang="en-GB" sz="2800" b="1" dirty="0" smtClean="0"/>
              <a:t>B  </a:t>
            </a:r>
            <a:r>
              <a:rPr lang="en-GB" sz="2800" dirty="0" smtClean="0"/>
              <a:t>Easterly</a:t>
            </a:r>
            <a:r>
              <a:rPr lang="en-GB" sz="2800" b="1" dirty="0" smtClean="0"/>
              <a:t/>
            </a:r>
            <a:br>
              <a:rPr lang="en-GB" sz="2800" b="1" dirty="0" smtClean="0"/>
            </a:br>
            <a:r>
              <a:rPr lang="en-GB" sz="2800" b="1" dirty="0" smtClean="0"/>
              <a:t/>
            </a:r>
            <a:br>
              <a:rPr lang="en-GB" sz="2800" b="1" dirty="0" smtClean="0"/>
            </a:br>
            <a:r>
              <a:rPr lang="en-GB" sz="2800" b="1" dirty="0" smtClean="0"/>
              <a:t>C   </a:t>
            </a:r>
            <a:r>
              <a:rPr lang="en-GB" sz="2800" dirty="0" smtClean="0"/>
              <a:t>North Westerly</a:t>
            </a:r>
            <a:r>
              <a:rPr lang="en-GB" sz="2800" b="1" dirty="0" smtClean="0"/>
              <a:t/>
            </a:r>
            <a:br>
              <a:rPr lang="en-GB" sz="2800" b="1" dirty="0" smtClean="0"/>
            </a:br>
            <a:r>
              <a:rPr lang="en-GB" sz="2800" b="1" dirty="0" smtClean="0"/>
              <a:t/>
            </a:r>
            <a:br>
              <a:rPr lang="en-GB" sz="2800" b="1" dirty="0" smtClean="0"/>
            </a:br>
            <a:r>
              <a:rPr lang="en-GB" sz="2800" b="1" dirty="0" smtClean="0"/>
              <a:t>D   </a:t>
            </a:r>
            <a:r>
              <a:rPr lang="en-GB" sz="2800" dirty="0" smtClean="0"/>
              <a:t>South Easterly</a:t>
            </a:r>
            <a:r>
              <a:rPr lang="en-GB" sz="2800" b="1" dirty="0" smtClean="0"/>
              <a:t/>
            </a:r>
            <a:br>
              <a:rPr lang="en-GB" sz="2800" b="1" dirty="0" smtClean="0"/>
            </a:br>
            <a:r>
              <a:rPr lang="en-GB" sz="2800" b="1" dirty="0" smtClean="0"/>
              <a:t> </a:t>
            </a:r>
            <a:endParaRPr lang="en-GB" sz="2800" b="1" dirty="0"/>
          </a:p>
        </p:txBody>
      </p:sp>
      <p:sp>
        <p:nvSpPr>
          <p:cNvPr id="3" name="Subtitle 2"/>
          <p:cNvSpPr>
            <a:spLocks noGrp="1"/>
          </p:cNvSpPr>
          <p:nvPr>
            <p:ph type="subTitle" idx="1"/>
          </p:nvPr>
        </p:nvSpPr>
        <p:spPr>
          <a:xfrm flipH="1">
            <a:off x="9429784" y="3886200"/>
            <a:ext cx="428628" cy="1752600"/>
          </a:xfrm>
        </p:spPr>
        <p:txBody>
          <a:bodyPr/>
          <a:lstStyle/>
          <a:p>
            <a:endParaRPr lang="en-GB"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7158" y="357166"/>
            <a:ext cx="8358246" cy="6143667"/>
          </a:xfrm>
        </p:spPr>
        <p:txBody>
          <a:bodyPr>
            <a:normAutofit fontScale="90000"/>
          </a:bodyPr>
          <a:lstStyle/>
          <a:p>
            <a:pPr algn="l"/>
            <a:r>
              <a:rPr lang="en-GB" sz="2800" b="1" dirty="0" smtClean="0"/>
              <a:t>                                       Question 16</a:t>
            </a:r>
            <a:br>
              <a:rPr lang="en-GB" sz="2800" b="1" dirty="0" smtClean="0"/>
            </a:br>
            <a:r>
              <a:rPr lang="en-GB" sz="2800" b="1" dirty="0" smtClean="0"/>
              <a:t>Which statement concerning LOW PRESSURE areas is FALSE?</a:t>
            </a:r>
            <a:br>
              <a:rPr lang="en-GB" sz="2800" b="1" dirty="0" smtClean="0"/>
            </a:br>
            <a:r>
              <a:rPr lang="en-GB" sz="2800" b="1" dirty="0" smtClean="0"/>
              <a:t/>
            </a:r>
            <a:br>
              <a:rPr lang="en-GB" sz="2800" b="1" dirty="0" smtClean="0"/>
            </a:br>
            <a:r>
              <a:rPr lang="en-GB" sz="2800" b="1" dirty="0" smtClean="0"/>
              <a:t>A  </a:t>
            </a:r>
            <a:r>
              <a:rPr lang="en-GB" sz="2800" dirty="0" smtClean="0"/>
              <a:t>wind blows counter-clockwise around the centre of a Low Pressure area in the Southern Hemisphere</a:t>
            </a:r>
            <a:br>
              <a:rPr lang="en-GB" sz="2800" dirty="0" smtClean="0"/>
            </a:br>
            <a:r>
              <a:rPr lang="en-GB" sz="2800" b="1" dirty="0" smtClean="0"/>
              <a:t/>
            </a:r>
            <a:br>
              <a:rPr lang="en-GB" sz="2800" b="1" dirty="0" smtClean="0"/>
            </a:br>
            <a:r>
              <a:rPr lang="en-GB" sz="2800" b="1" dirty="0" smtClean="0"/>
              <a:t>B </a:t>
            </a:r>
            <a:r>
              <a:rPr lang="en-GB" sz="2800" dirty="0" smtClean="0"/>
              <a:t> atmospheric pressure gradually increases when moving away from the centre of a Low Pressure area</a:t>
            </a:r>
            <a:br>
              <a:rPr lang="en-GB" sz="2800" dirty="0" smtClean="0"/>
            </a:br>
            <a:r>
              <a:rPr lang="en-GB" sz="2800" b="1" dirty="0" smtClean="0"/>
              <a:t/>
            </a:r>
            <a:br>
              <a:rPr lang="en-GB" sz="2800" b="1" dirty="0" smtClean="0"/>
            </a:br>
            <a:r>
              <a:rPr lang="en-GB" sz="2800" b="1" dirty="0" smtClean="0"/>
              <a:t>C </a:t>
            </a:r>
            <a:r>
              <a:rPr lang="en-GB" sz="2800" dirty="0" smtClean="0"/>
              <a:t>Low Pressure Areas are characterised by unstable weather conditions</a:t>
            </a:r>
            <a:br>
              <a:rPr lang="en-GB" sz="2800" dirty="0" smtClean="0"/>
            </a:br>
            <a:r>
              <a:rPr lang="en-GB" sz="2800" b="1" dirty="0" smtClean="0"/>
              <a:t/>
            </a:r>
            <a:br>
              <a:rPr lang="en-GB" sz="2800" b="1" dirty="0" smtClean="0"/>
            </a:br>
            <a:r>
              <a:rPr lang="en-GB" sz="2800" b="1" dirty="0" smtClean="0"/>
              <a:t>D </a:t>
            </a:r>
            <a:r>
              <a:rPr lang="en-GB" sz="2800" dirty="0" smtClean="0"/>
              <a:t>Continuous heating of a large body of seawater results in Low Pressure areas being formed</a:t>
            </a:r>
            <a:endParaRPr lang="en-GB" sz="2800" b="1" dirty="0"/>
          </a:p>
        </p:txBody>
      </p:sp>
      <p:sp>
        <p:nvSpPr>
          <p:cNvPr id="3" name="Subtitle 2"/>
          <p:cNvSpPr>
            <a:spLocks noGrp="1"/>
          </p:cNvSpPr>
          <p:nvPr>
            <p:ph type="subTitle" idx="1"/>
          </p:nvPr>
        </p:nvSpPr>
        <p:spPr>
          <a:xfrm flipH="1">
            <a:off x="9429784" y="3886200"/>
            <a:ext cx="2286016" cy="1752600"/>
          </a:xfrm>
        </p:spPr>
        <p:txBody>
          <a:bodyPr/>
          <a:lstStyle/>
          <a:p>
            <a:endParaRPr lang="en-GB"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7158" y="357166"/>
            <a:ext cx="8358246" cy="6215105"/>
          </a:xfrm>
        </p:spPr>
        <p:txBody>
          <a:bodyPr>
            <a:normAutofit fontScale="90000"/>
          </a:bodyPr>
          <a:lstStyle/>
          <a:p>
            <a:pPr algn="l"/>
            <a:r>
              <a:rPr lang="en-GB" sz="2800" b="1" dirty="0" smtClean="0"/>
              <a:t>                                        Question 17</a:t>
            </a:r>
            <a:br>
              <a:rPr lang="en-GB" sz="2800" b="1" dirty="0" smtClean="0"/>
            </a:br>
            <a:r>
              <a:rPr lang="en-GB" sz="2800" b="1" dirty="0" smtClean="0"/>
              <a:t>A safety briefing by a skipper comprises various points. The </a:t>
            </a:r>
            <a:r>
              <a:rPr lang="en-GB" sz="2800" b="1" i="1" u="sng" dirty="0" smtClean="0"/>
              <a:t>primary aim </a:t>
            </a:r>
            <a:r>
              <a:rPr lang="en-GB" sz="2800" b="1" dirty="0" smtClean="0"/>
              <a:t>of the briefing is to </a:t>
            </a:r>
            <a:br>
              <a:rPr lang="en-GB" sz="2800" b="1" dirty="0" smtClean="0"/>
            </a:br>
            <a:r>
              <a:rPr lang="en-GB" sz="2800" b="1" dirty="0" smtClean="0"/>
              <a:t/>
            </a:r>
            <a:br>
              <a:rPr lang="en-GB" sz="2800" b="1" dirty="0" smtClean="0"/>
            </a:br>
            <a:r>
              <a:rPr lang="en-GB" sz="2800" b="1" dirty="0" smtClean="0"/>
              <a:t>A  </a:t>
            </a:r>
            <a:r>
              <a:rPr lang="en-GB" sz="2800" dirty="0" smtClean="0"/>
              <a:t> reassure the passengers that there are life jackets available onboard</a:t>
            </a:r>
            <a:br>
              <a:rPr lang="en-GB" sz="2800" dirty="0" smtClean="0"/>
            </a:br>
            <a:r>
              <a:rPr lang="en-GB" sz="2800" b="1" dirty="0" smtClean="0"/>
              <a:t/>
            </a:r>
            <a:br>
              <a:rPr lang="en-GB" sz="2800" b="1" dirty="0" smtClean="0"/>
            </a:br>
            <a:r>
              <a:rPr lang="en-GB" sz="2800" b="1" dirty="0" smtClean="0"/>
              <a:t>B  </a:t>
            </a:r>
            <a:r>
              <a:rPr lang="en-GB" sz="2800" dirty="0" smtClean="0"/>
              <a:t> advise the passengers not to go on the weather deck without wearing a life jacket</a:t>
            </a:r>
            <a:br>
              <a:rPr lang="en-GB" sz="2800" dirty="0" smtClean="0"/>
            </a:br>
            <a:r>
              <a:rPr lang="en-GB" sz="2800" b="1" dirty="0" smtClean="0"/>
              <a:t>  </a:t>
            </a:r>
            <a:r>
              <a:rPr lang="en-GB" sz="2800" dirty="0" smtClean="0"/>
              <a:t> </a:t>
            </a:r>
            <a:r>
              <a:rPr lang="en-GB" sz="2800" b="1" dirty="0" smtClean="0"/>
              <a:t/>
            </a:r>
            <a:br>
              <a:rPr lang="en-GB" sz="2800" b="1" dirty="0" smtClean="0"/>
            </a:br>
            <a:r>
              <a:rPr lang="en-GB" sz="2800" b="1" dirty="0" smtClean="0"/>
              <a:t>C  </a:t>
            </a:r>
            <a:r>
              <a:rPr lang="en-GB" sz="2800" dirty="0" smtClean="0"/>
              <a:t> sensitize all the passengers that there always exists a certain degree of risk when being at sea but which can be reduced by complying with safety instructions</a:t>
            </a:r>
            <a:r>
              <a:rPr lang="en-GB" sz="2800" b="1" dirty="0" smtClean="0"/>
              <a:t> </a:t>
            </a:r>
            <a:br>
              <a:rPr lang="en-GB" sz="2800" b="1" dirty="0" smtClean="0"/>
            </a:br>
            <a:r>
              <a:rPr lang="en-GB" sz="2800" b="1" dirty="0" smtClean="0"/>
              <a:t/>
            </a:r>
            <a:br>
              <a:rPr lang="en-GB" sz="2800" b="1" dirty="0" smtClean="0"/>
            </a:br>
            <a:r>
              <a:rPr lang="en-GB" sz="2800" b="1" dirty="0" smtClean="0"/>
              <a:t>D  </a:t>
            </a:r>
            <a:r>
              <a:rPr lang="en-GB" sz="2800" dirty="0" smtClean="0"/>
              <a:t>guarantee all the passengers  that  the sortie will be incident- free based on his years of experience as skipper </a:t>
            </a:r>
            <a:endParaRPr lang="en-GB" sz="2800" b="1" dirty="0"/>
          </a:p>
        </p:txBody>
      </p:sp>
      <p:sp>
        <p:nvSpPr>
          <p:cNvPr id="3" name="Subtitle 2"/>
          <p:cNvSpPr>
            <a:spLocks noGrp="1"/>
          </p:cNvSpPr>
          <p:nvPr>
            <p:ph type="subTitle" idx="1"/>
          </p:nvPr>
        </p:nvSpPr>
        <p:spPr>
          <a:xfrm flipH="1">
            <a:off x="9572660" y="3886200"/>
            <a:ext cx="500066" cy="1752600"/>
          </a:xfrm>
        </p:spPr>
        <p:txBody>
          <a:bodyPr/>
          <a:lstStyle/>
          <a:p>
            <a:endParaRPr lang="en-GB"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7158" y="357166"/>
            <a:ext cx="8429684" cy="6215105"/>
          </a:xfrm>
        </p:spPr>
        <p:txBody>
          <a:bodyPr>
            <a:normAutofit fontScale="90000"/>
          </a:bodyPr>
          <a:lstStyle/>
          <a:p>
            <a:pPr algn="l"/>
            <a:r>
              <a:rPr lang="en-GB" sz="2800" b="1" dirty="0" smtClean="0"/>
              <a:t>                                             Question 18</a:t>
            </a:r>
            <a:br>
              <a:rPr lang="en-GB" sz="2800" b="1" dirty="0" smtClean="0"/>
            </a:br>
            <a:r>
              <a:rPr lang="en-GB" sz="2800" b="1" dirty="0" smtClean="0"/>
              <a:t>Which statement is TRUE if you were leaving this bay for high seas by using these two marks in transit and a few minutes later the marks appear as shown below ?</a:t>
            </a:r>
            <a:br>
              <a:rPr lang="en-GB" sz="2800" b="1" dirty="0" smtClean="0"/>
            </a:br>
            <a:r>
              <a:rPr lang="en-GB" sz="2800" b="1" dirty="0" smtClean="0"/>
              <a:t/>
            </a:r>
            <a:br>
              <a:rPr lang="en-GB" sz="2800" b="1" dirty="0" smtClean="0"/>
            </a:br>
            <a:r>
              <a:rPr lang="en-GB" sz="2800" b="1" dirty="0" smtClean="0"/>
              <a:t/>
            </a:r>
            <a:br>
              <a:rPr lang="en-GB" sz="2800" b="1" dirty="0" smtClean="0"/>
            </a:br>
            <a:r>
              <a:rPr lang="en-GB" sz="2800" b="1" dirty="0" smtClean="0"/>
              <a:t/>
            </a:r>
            <a:br>
              <a:rPr lang="en-GB" sz="2800" b="1" dirty="0" smtClean="0"/>
            </a:br>
            <a:r>
              <a:rPr lang="en-GB" sz="2800" b="1" dirty="0" smtClean="0"/>
              <a:t/>
            </a:r>
            <a:br>
              <a:rPr lang="en-GB" sz="2800" b="1" dirty="0" smtClean="0"/>
            </a:br>
            <a:r>
              <a:rPr lang="en-GB" sz="2800" b="1" dirty="0" smtClean="0"/>
              <a:t/>
            </a:r>
            <a:br>
              <a:rPr lang="en-GB" sz="2800" b="1" dirty="0" smtClean="0"/>
            </a:br>
            <a:r>
              <a:rPr lang="en-GB" sz="2800" b="1" dirty="0" smtClean="0"/>
              <a:t/>
            </a:r>
            <a:br>
              <a:rPr lang="en-GB" sz="2800" b="1" dirty="0" smtClean="0"/>
            </a:br>
            <a:r>
              <a:rPr lang="en-GB" sz="2800" b="1" dirty="0" smtClean="0"/>
              <a:t/>
            </a:r>
            <a:br>
              <a:rPr lang="en-GB" sz="2800" b="1" dirty="0" smtClean="0"/>
            </a:br>
            <a:r>
              <a:rPr lang="en-GB" sz="2800" b="1" dirty="0" smtClean="0"/>
              <a:t>A  </a:t>
            </a:r>
            <a:r>
              <a:rPr lang="en-GB" sz="2800" dirty="0" smtClean="0"/>
              <a:t>  You must alter course to starboard to regain track</a:t>
            </a:r>
            <a:r>
              <a:rPr lang="en-GB" sz="2800" b="1" dirty="0" smtClean="0"/>
              <a:t/>
            </a:r>
            <a:br>
              <a:rPr lang="en-GB" sz="2800" b="1" dirty="0" smtClean="0"/>
            </a:br>
            <a:r>
              <a:rPr lang="en-GB" sz="2800" b="1" dirty="0" smtClean="0"/>
              <a:t>B    </a:t>
            </a:r>
            <a:r>
              <a:rPr lang="en-GB" sz="2800" dirty="0" smtClean="0"/>
              <a:t>Your vessel is starboard of track</a:t>
            </a:r>
            <a:r>
              <a:rPr lang="en-GB" sz="2800" b="1" dirty="0" smtClean="0"/>
              <a:t/>
            </a:r>
            <a:br>
              <a:rPr lang="en-GB" sz="2800" b="1" dirty="0" smtClean="0"/>
            </a:br>
            <a:r>
              <a:rPr lang="en-GB" sz="2800" b="1" dirty="0" smtClean="0"/>
              <a:t>C     </a:t>
            </a:r>
            <a:r>
              <a:rPr lang="en-GB" sz="2800" dirty="0" smtClean="0"/>
              <a:t>Your vessel is port of track</a:t>
            </a:r>
            <a:r>
              <a:rPr lang="en-GB" sz="2800" b="1" dirty="0" smtClean="0"/>
              <a:t/>
            </a:r>
            <a:br>
              <a:rPr lang="en-GB" sz="2800" b="1" dirty="0" smtClean="0"/>
            </a:br>
            <a:r>
              <a:rPr lang="en-GB" sz="2800" b="1" dirty="0" smtClean="0"/>
              <a:t>D    </a:t>
            </a:r>
            <a:r>
              <a:rPr lang="en-GB" sz="2800" dirty="0" smtClean="0"/>
              <a:t>You vessel is experiencing a slight drift towards port </a:t>
            </a:r>
            <a:r>
              <a:rPr lang="en-GB" sz="2800" b="1" dirty="0" smtClean="0"/>
              <a:t/>
            </a:r>
            <a:br>
              <a:rPr lang="en-GB" sz="2800" b="1" dirty="0" smtClean="0"/>
            </a:br>
            <a:endParaRPr lang="en-GB" sz="2800" b="1" dirty="0"/>
          </a:p>
        </p:txBody>
      </p:sp>
      <p:sp>
        <p:nvSpPr>
          <p:cNvPr id="3" name="Subtitle 2"/>
          <p:cNvSpPr>
            <a:spLocks noGrp="1"/>
          </p:cNvSpPr>
          <p:nvPr>
            <p:ph type="subTitle" idx="1"/>
          </p:nvPr>
        </p:nvSpPr>
        <p:spPr>
          <a:xfrm flipH="1">
            <a:off x="9572660" y="3886200"/>
            <a:ext cx="1428760" cy="1752600"/>
          </a:xfrm>
        </p:spPr>
        <p:txBody>
          <a:bodyPr/>
          <a:lstStyle/>
          <a:p>
            <a:endParaRPr lang="en-GB" dirty="0"/>
          </a:p>
        </p:txBody>
      </p:sp>
      <p:pic>
        <p:nvPicPr>
          <p:cNvPr id="4" name="Picture 2" descr="C:\Users\lifebook\Downloads\transit 4.JPG"/>
          <p:cNvPicPr>
            <a:picLocks noChangeAspect="1" noChangeArrowheads="1"/>
          </p:cNvPicPr>
          <p:nvPr/>
        </p:nvPicPr>
        <p:blipFill>
          <a:blip r:embed="rId2" cstate="print"/>
          <a:srcRect/>
          <a:stretch>
            <a:fillRect/>
          </a:stretch>
        </p:blipFill>
        <p:spPr bwMode="auto">
          <a:xfrm>
            <a:off x="2214546" y="2000240"/>
            <a:ext cx="4429156" cy="2324762"/>
          </a:xfrm>
          <a:prstGeom prst="rect">
            <a:avLst/>
          </a:prstGeom>
          <a:noFill/>
        </p:spPr>
      </p:pic>
      <p:sp>
        <p:nvSpPr>
          <p:cNvPr id="5" name="Isosceles Triangle 4"/>
          <p:cNvSpPr/>
          <p:nvPr/>
        </p:nvSpPr>
        <p:spPr>
          <a:xfrm>
            <a:off x="3857620" y="2428868"/>
            <a:ext cx="285752" cy="428628"/>
          </a:xfrm>
          <a:prstGeom prst="triangl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Isosceles Triangle 5"/>
          <p:cNvSpPr/>
          <p:nvPr/>
        </p:nvSpPr>
        <p:spPr>
          <a:xfrm rot="10800000">
            <a:off x="4143372" y="3071809"/>
            <a:ext cx="428628" cy="500066"/>
          </a:xfrm>
          <a:prstGeom prst="triangl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7158" y="357166"/>
            <a:ext cx="8358246" cy="6215105"/>
          </a:xfrm>
        </p:spPr>
        <p:txBody>
          <a:bodyPr>
            <a:normAutofit/>
          </a:bodyPr>
          <a:lstStyle/>
          <a:p>
            <a:pPr algn="l"/>
            <a:r>
              <a:rPr lang="en-GB" sz="2800" b="1" dirty="0" smtClean="0"/>
              <a:t>                                        Question 19</a:t>
            </a:r>
            <a:br>
              <a:rPr lang="en-GB" sz="2800" b="1" dirty="0" smtClean="0"/>
            </a:br>
            <a:r>
              <a:rPr lang="en-GB" sz="2800" b="1" dirty="0" smtClean="0"/>
              <a:t/>
            </a:r>
            <a:br>
              <a:rPr lang="en-GB" sz="2800" b="1" dirty="0" smtClean="0"/>
            </a:br>
            <a:r>
              <a:rPr lang="en-GB" sz="2800" b="1" dirty="0" smtClean="0"/>
              <a:t>You are at sea off Port Louis Harbour and you hear a radio call  starting with the words </a:t>
            </a:r>
            <a:r>
              <a:rPr lang="en-GB" sz="2800" b="1" i="1" dirty="0" smtClean="0"/>
              <a:t>SECURITE </a:t>
            </a:r>
            <a:r>
              <a:rPr lang="en-GB" sz="2800" b="1" i="1" dirty="0" err="1" smtClean="0"/>
              <a:t>SECURITE</a:t>
            </a:r>
            <a:r>
              <a:rPr lang="en-GB" sz="2800" b="1" i="1" dirty="0" smtClean="0"/>
              <a:t> </a:t>
            </a:r>
            <a:r>
              <a:rPr lang="en-GB" sz="2800" b="1" i="1" dirty="0" err="1" smtClean="0"/>
              <a:t>SECURITE</a:t>
            </a:r>
            <a:r>
              <a:rPr lang="en-GB" sz="2800" b="1" dirty="0" smtClean="0"/>
              <a:t>. It means that what follows will be a message concerning</a:t>
            </a:r>
            <a:br>
              <a:rPr lang="en-GB" sz="2800" b="1" dirty="0" smtClean="0"/>
            </a:br>
            <a:r>
              <a:rPr lang="en-GB" sz="2800" b="1" dirty="0" smtClean="0"/>
              <a:t/>
            </a:r>
            <a:br>
              <a:rPr lang="en-GB" sz="2800" b="1" dirty="0" smtClean="0"/>
            </a:br>
            <a:r>
              <a:rPr lang="en-GB" sz="2800" b="1" dirty="0" smtClean="0"/>
              <a:t>A  </a:t>
            </a:r>
            <a:r>
              <a:rPr lang="en-GB" sz="2800" dirty="0" err="1" smtClean="0"/>
              <a:t>a</a:t>
            </a:r>
            <a:r>
              <a:rPr lang="en-GB" sz="2800" dirty="0" smtClean="0"/>
              <a:t> case of imminent danger to life</a:t>
            </a:r>
            <a:r>
              <a:rPr lang="en-GB" sz="2800" b="1" dirty="0" smtClean="0"/>
              <a:t> </a:t>
            </a:r>
            <a:br>
              <a:rPr lang="en-GB" sz="2800" b="1" dirty="0" smtClean="0"/>
            </a:br>
            <a:r>
              <a:rPr lang="en-GB" sz="2800" b="1" dirty="0" smtClean="0"/>
              <a:t>B  </a:t>
            </a:r>
            <a:r>
              <a:rPr lang="en-GB" sz="2800" dirty="0" smtClean="0"/>
              <a:t>a case where safety of navigation may be jeopardised</a:t>
            </a:r>
            <a:r>
              <a:rPr lang="en-GB" sz="2800" b="1" dirty="0" smtClean="0"/>
              <a:t/>
            </a:r>
            <a:br>
              <a:rPr lang="en-GB" sz="2800" b="1" dirty="0" smtClean="0"/>
            </a:br>
            <a:r>
              <a:rPr lang="en-GB" sz="2800" b="1" dirty="0" smtClean="0"/>
              <a:t>C   </a:t>
            </a:r>
            <a:r>
              <a:rPr lang="en-GB" sz="2800" dirty="0" smtClean="0"/>
              <a:t>a case of vessel incapacitated by engine failure  </a:t>
            </a:r>
            <a:r>
              <a:rPr lang="en-GB" sz="2800" b="1" dirty="0" smtClean="0"/>
              <a:t/>
            </a:r>
            <a:br>
              <a:rPr lang="en-GB" sz="2800" b="1" dirty="0" smtClean="0"/>
            </a:br>
            <a:r>
              <a:rPr lang="en-GB" sz="2800" b="1" dirty="0" smtClean="0"/>
              <a:t>D  </a:t>
            </a:r>
            <a:r>
              <a:rPr lang="en-GB" sz="2800" dirty="0" smtClean="0"/>
              <a:t>a case of vessel carrying dangerous cargo</a:t>
            </a:r>
            <a:endParaRPr lang="en-GB" sz="2800" b="1" dirty="0"/>
          </a:p>
        </p:txBody>
      </p:sp>
      <p:sp>
        <p:nvSpPr>
          <p:cNvPr id="3" name="Subtitle 2"/>
          <p:cNvSpPr>
            <a:spLocks noGrp="1"/>
          </p:cNvSpPr>
          <p:nvPr>
            <p:ph type="subTitle" idx="1"/>
          </p:nvPr>
        </p:nvSpPr>
        <p:spPr>
          <a:xfrm flipH="1">
            <a:off x="9501222" y="3886200"/>
            <a:ext cx="1285884" cy="1752600"/>
          </a:xfrm>
        </p:spPr>
        <p:txBody>
          <a:bodyPr/>
          <a:lstStyle/>
          <a:p>
            <a:endParaRPr lang="en-GB"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7158" y="357166"/>
            <a:ext cx="8429684" cy="6143667"/>
          </a:xfrm>
        </p:spPr>
        <p:txBody>
          <a:bodyPr>
            <a:normAutofit fontScale="90000"/>
          </a:bodyPr>
          <a:lstStyle/>
          <a:p>
            <a:pPr algn="l"/>
            <a:r>
              <a:rPr lang="en-GB" sz="2400" b="1" dirty="0" smtClean="0"/>
              <a:t>                                               </a:t>
            </a:r>
            <a:r>
              <a:rPr lang="en-GB" sz="2700" b="1" dirty="0" smtClean="0"/>
              <a:t>Question 20</a:t>
            </a:r>
            <a:br>
              <a:rPr lang="en-GB" sz="2700" b="1" dirty="0" smtClean="0"/>
            </a:br>
            <a:r>
              <a:rPr lang="en-GB" sz="2700" b="1" dirty="0" smtClean="0"/>
              <a:t/>
            </a:r>
            <a:br>
              <a:rPr lang="en-GB" sz="2700" b="1" dirty="0" smtClean="0"/>
            </a:br>
            <a:r>
              <a:rPr lang="en-GB" sz="2700" b="1" dirty="0" smtClean="0"/>
              <a:t>You are the skipper of a power-driven vessel at sea with crew members and passengers onboard. You are in the wheel house and cannot see all around your </a:t>
            </a:r>
            <a:r>
              <a:rPr lang="en-GB" sz="2700" b="1" dirty="0" err="1" smtClean="0"/>
              <a:t>vessel.Suddenly</a:t>
            </a:r>
            <a:r>
              <a:rPr lang="en-GB" sz="2700" b="1" dirty="0" smtClean="0"/>
              <a:t> you hear “MAN OVERBOARD PORT </a:t>
            </a:r>
            <a:r>
              <a:rPr lang="en-GB" sz="2700" b="1" dirty="0" err="1" smtClean="0"/>
              <a:t>SIDE”.Which</a:t>
            </a:r>
            <a:r>
              <a:rPr lang="en-GB" sz="2700" b="1" dirty="0" smtClean="0"/>
              <a:t> one is the best sequence of actions to be taken to ensure quick and safe recovery of the person?</a:t>
            </a:r>
            <a:br>
              <a:rPr lang="en-GB" sz="2700" b="1" dirty="0" smtClean="0"/>
            </a:br>
            <a:r>
              <a:rPr lang="en-GB" sz="2700" b="1" dirty="0" smtClean="0"/>
              <a:t/>
            </a:r>
            <a:br>
              <a:rPr lang="en-GB" sz="2700" b="1" dirty="0" smtClean="0"/>
            </a:br>
            <a:r>
              <a:rPr lang="en-GB" sz="2700" b="1" dirty="0" smtClean="0"/>
              <a:t>A </a:t>
            </a:r>
            <a:r>
              <a:rPr lang="en-GB" sz="2700" dirty="0" smtClean="0"/>
              <a:t> alter course to starboard, order lifebuoy to be thrown, place a lookout</a:t>
            </a:r>
            <a:r>
              <a:rPr lang="en-GB" sz="2700" b="1" dirty="0" smtClean="0"/>
              <a:t/>
            </a:r>
            <a:br>
              <a:rPr lang="en-GB" sz="2700" b="1" dirty="0" smtClean="0"/>
            </a:br>
            <a:r>
              <a:rPr lang="en-GB" sz="2700" b="1" dirty="0" smtClean="0"/>
              <a:t>B  </a:t>
            </a:r>
            <a:r>
              <a:rPr lang="en-GB" sz="2700" dirty="0" smtClean="0"/>
              <a:t>alter course to port, call NCG on channel 16, make a </a:t>
            </a:r>
            <a:r>
              <a:rPr lang="en-GB" sz="2700" dirty="0" err="1" smtClean="0"/>
              <a:t>williamson</a:t>
            </a:r>
            <a:r>
              <a:rPr lang="en-GB" sz="2700" dirty="0" smtClean="0"/>
              <a:t> turn</a:t>
            </a:r>
            <a:r>
              <a:rPr lang="en-GB" sz="2700" b="1" dirty="0" smtClean="0"/>
              <a:t/>
            </a:r>
            <a:br>
              <a:rPr lang="en-GB" sz="2700" b="1" dirty="0" smtClean="0"/>
            </a:br>
            <a:r>
              <a:rPr lang="en-GB" sz="2700" b="1" dirty="0" smtClean="0"/>
              <a:t>C  </a:t>
            </a:r>
            <a:r>
              <a:rPr lang="en-GB" sz="2700" dirty="0" smtClean="0"/>
              <a:t>alter course to port, order lifebuoy to be thrown, place a lookout</a:t>
            </a:r>
            <a:r>
              <a:rPr lang="en-GB" sz="2700" b="1" dirty="0" smtClean="0"/>
              <a:t/>
            </a:r>
            <a:br>
              <a:rPr lang="en-GB" sz="2700" b="1" dirty="0" smtClean="0"/>
            </a:br>
            <a:r>
              <a:rPr lang="en-GB" sz="2700" b="1" dirty="0" smtClean="0"/>
              <a:t>D  </a:t>
            </a:r>
            <a:r>
              <a:rPr lang="en-GB" sz="2700" dirty="0" smtClean="0"/>
              <a:t>alter course to starboard, press the MOB switch on GPS, place a lookout</a:t>
            </a:r>
            <a:endParaRPr lang="en-GB" sz="2700" b="1" dirty="0"/>
          </a:p>
        </p:txBody>
      </p:sp>
      <p:sp>
        <p:nvSpPr>
          <p:cNvPr id="3" name="Subtitle 2"/>
          <p:cNvSpPr>
            <a:spLocks noGrp="1"/>
          </p:cNvSpPr>
          <p:nvPr>
            <p:ph type="subTitle" idx="1"/>
          </p:nvPr>
        </p:nvSpPr>
        <p:spPr>
          <a:xfrm flipH="1">
            <a:off x="9429784" y="3886200"/>
            <a:ext cx="1571636" cy="1752600"/>
          </a:xfrm>
        </p:spPr>
        <p:txBody>
          <a:bodyPr/>
          <a:lstStyle/>
          <a:p>
            <a:endParaRPr lang="en-GB"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451</TotalTime>
  <Words>54</Words>
  <Application>Microsoft Office PowerPoint</Application>
  <PresentationFormat>On-screen Show (4:3)</PresentationFormat>
  <Paragraphs>22</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                                            Question 1 In which one of the following  scenarios would  a skipper  be committing  an offence under the Tourism Authority Act 2006?  A    operating a pleasure craft  without a second person onboard to do lookout duties  B   operating a pleasure craft not equipped with navigational lights during a moonlit night   C   operating a pleasure craft at 27 knots in open seas when no other craft is in sight  D   operating a pleasure craft  at  21.5 nautical miles off the shore of Flic en Flac being holder of a Category B skipper’s licence   </vt:lpstr>
      <vt:lpstr>                                                                 Question 2         When reporting the position of your craft at sea  by the use of this magnetic compass, you need to mention the  correct direction  with respect to the lighthouse as  A    345 C B    185 C C    350 C D    165 C               </vt:lpstr>
      <vt:lpstr>                                       Question 3  ‘Bilge’ of a vessel refers to  A  the submerged part when afloat  B  the lowest section inside the vessel which is closest to the keel  C   the vertical height between the waterline and the keel  D  the width of the weather deck</vt:lpstr>
      <vt:lpstr>                                        Question 4  How much distance will a  pleasure craft cover in 1 h 15 minutes at a constant speed of 16 knots ?  A    12 nautical miles B    16 nautical miles C    20 nautical miles D    24 nautical miles</vt:lpstr>
      <vt:lpstr>                                                Question 5         How would you identify this navigational buoy by night?  A   By its red and black bands B   By its position on the rocks C   By a series of six short flashes of red light D   By a series of two flashes of white light </vt:lpstr>
      <vt:lpstr>                                       Question 6 Your craft is on course 265◦C at night and at about 1 nautical mile ahead, you sight a buoy flashing white light continuously. You should therefore  A    come to course to 205 ◦ C  B    come to course to 325 ◦ C  C     come to port by not more than 15 degrees  D     keep well clear since it is an isolated danger buoy</vt:lpstr>
      <vt:lpstr>                                               Question 7  Which statement in respect of lookout duties at sea is FALSE?  A  when alone onboard a craft at sea, the responsibility of maintaining lookout rests with the skipper  B  a skipper is not relieved of his obligation to maintain lookout at night even though visibility is excellent  C  a skipper should ensure that lookout is being maintained at all times by day and by night  D  a skipper may stop maintaining visual lookout in restricted visibility if a radar is being operated</vt:lpstr>
      <vt:lpstr>                                       Question 8 ‘Safe speed’ is a speed adopted by a skipper based on several factors. One of them is  A    his age and experience  B    the number of persons detailed for lookout duties  C    the length of the craft  D    the boat traffic density at any given time</vt:lpstr>
      <vt:lpstr>                                            Question 9 A container vessel is off your starboard bow at a distance of 2 nautical miles. You take her bearing at 0910 and read 018 C. At 0916, you take a second bearing and read 010 C as shown below.         As a competent skipper, you know that A   you must alter course to port by at least 60 degrees B   the container vessel will pass ahead of you C    there is high risk of collision D    you must maintain your course and speed  </vt:lpstr>
      <vt:lpstr>                                                                                                          Question 10         These two power-driven pleasure craft are meeting in a crossing situation where collision is imminent. According to the Collision Regulations, which statement in this situation is TRUE? A   vessel P should alter course to port to avoid the collision B   vessel P may maintain her course and speed C    vessel Q should have altered course to port much earlier D   vessel Q  should have altered course to starboard much earlier                </vt:lpstr>
      <vt:lpstr>                                    Question 11  You are operating a pleasure craft at 17 knots on high seas when suddenly the visibility reduces drastically. You come down in speed to 6 knots. What is the next action you would take in an order of priority?  A   Plot a GPS fix on the chart B   Call all vessels on channel 16 and request their GPS positions C   Switch on navigational lights D   Switch on the radar</vt:lpstr>
      <vt:lpstr>                                                            Question 12 You see this light at about 1 nautical  off your port bow when you are on course 050 C.        As a competent skipper, you must  A   maintain your course and speed   B   come to course  350 C to keep well clear of her C    come to course  110 C to keep well clear of her D   call her on channel 16 to know her intentions              </vt:lpstr>
      <vt:lpstr>                                         Question 13        Which statement is TRUE concerning this vessel ? A  she cannot deviate from her course because of her deep draught  B  she is aground C   she cannot manoeuvre to avoid a collision because of the work she is doing D  she cannot manoeuvre to avoid a collision because of a technical problem</vt:lpstr>
      <vt:lpstr>                                        Question 14  You are nearing a bend in a harbour and because of buildings you cannot see whether there is traffic on the other side. You must therefore  A  sound one prolonged blast  B   sound at least five short and rapid blasts  C   sound three short blasts  D   sound one short blast</vt:lpstr>
      <vt:lpstr>                                     Question 15  The direction of ocean current around Mauritius is primarily  A  Northerly  B  Easterly  C   North Westerly  D   South Easterly  </vt:lpstr>
      <vt:lpstr>                                       Question 16 Which statement concerning LOW PRESSURE areas is FALSE?  A  wind blows counter-clockwise around the centre of a Low Pressure area in the Southern Hemisphere  B  atmospheric pressure gradually increases when moving away from the centre of a Low Pressure area  C Low Pressure Areas are characterised by unstable weather conditions  D Continuous heating of a large body of seawater results in Low Pressure areas being formed</vt:lpstr>
      <vt:lpstr>                                        Question 17 A safety briefing by a skipper comprises various points. The primary aim of the briefing is to   A   reassure the passengers that there are life jackets available onboard  B   advise the passengers not to go on the weather deck without wearing a life jacket     C   sensitize all the passengers that there always exists a certain degree of risk when being at sea but which can be reduced by complying with safety instructions   D  guarantee all the passengers  that  the sortie will be incident- free based on his years of experience as skipper </vt:lpstr>
      <vt:lpstr>                                             Question 18 Which statement is TRUE if you were leaving this bay for high seas by using these two marks in transit and a few minutes later the marks appear as shown below ?        A    You must alter course to starboard to regain track B    Your vessel is starboard of track C     Your vessel is port of track D    You vessel is experiencing a slight drift towards port  </vt:lpstr>
      <vt:lpstr>                                        Question 19  You are at sea off Port Louis Harbour and you hear a radio call  starting with the words SECURITE SECURITE SECURITE. It means that what follows will be a message concerning  A  a case of imminent danger to life  B  a case where safety of navigation may be jeopardised C   a case of vessel incapacitated by engine failure   D  a case of vessel carrying dangerous cargo</vt:lpstr>
      <vt:lpstr>                                               Question 20  You are the skipper of a power-driven vessel at sea with crew members and passengers onboard. You are in the wheel house and cannot see all around your vessel.Suddenly you hear “MAN OVERBOARD PORT SIDE”.Which one is the best sequence of actions to be taken to ensure quick and safe recovery of the person?  A  alter course to starboard, order lifebuoy to be thrown, place a lookout B  alter course to port, call NCG on channel 16, make a williamson turn C  alter course to port, order lifebuoy to be thrown, place a lookout D  alter course to starboard, press the MOB switch on GPS, place a lookout</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Question 1 In which one of the following  scenarios would  a skipper  be committing  an offence under the Tourism Authority Act 2006?  A    operating a pleasure craft  without a second person onboard to do lookout duties  B   operating a pleasure craft not equipped with navigational lights during a moonlit night   C   operating a pleasure craft at 27 knots in open seas when no other craft is in sight  D   operating a pleasure craft  at  21.5 nautical miles off the shore of Flic en Flac being holder of a Category B skipper’s licence   </dc:title>
  <dc:creator>lifebook</dc:creator>
  <cp:lastModifiedBy>lifebook</cp:lastModifiedBy>
  <cp:revision>4</cp:revision>
  <dcterms:created xsi:type="dcterms:W3CDTF">2018-02-10T09:29:36Z</dcterms:created>
  <dcterms:modified xsi:type="dcterms:W3CDTF">2018-10-06T03:12:59Z</dcterms:modified>
</cp:coreProperties>
</file>