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6" r:id="rId2"/>
    <p:sldId id="257" r:id="rId3"/>
    <p:sldId id="258" r:id="rId4"/>
    <p:sldId id="260" r:id="rId5"/>
    <p:sldId id="261" r:id="rId6"/>
    <p:sldId id="262" r:id="rId7"/>
    <p:sldId id="263" r:id="rId8"/>
    <p:sldId id="264" r:id="rId9"/>
    <p:sldId id="267" r:id="rId10"/>
    <p:sldId id="268" r:id="rId11"/>
    <p:sldId id="269" r:id="rId12"/>
    <p:sldId id="270" r:id="rId13"/>
    <p:sldId id="271" r:id="rId14"/>
    <p:sldId id="272" r:id="rId15"/>
    <p:sldId id="273" r:id="rId16"/>
    <p:sldId id="274" r:id="rId17"/>
    <p:sldId id="275" r:id="rId18"/>
    <p:sldId id="276" r:id="rId19"/>
    <p:sldId id="277" r:id="rId20"/>
    <p:sldId id="278"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486" y="25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B1F61124-EB3C-4E5A-8D2D-1729B92488A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1F61124-EB3C-4E5A-8D2D-1729B92488A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1F61124-EB3C-4E5A-8D2D-1729B92488A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B1F61124-EB3C-4E5A-8D2D-1729B92488A4}" type="datetimeFigureOut">
              <a:rPr lang="en-US" smtClean="0"/>
              <a:pPr/>
              <a:t>10/6/2018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B1F61124-EB3C-4E5A-8D2D-1729B92488A4}" type="datetimeFigureOut">
              <a:rPr lang="en-US" smtClean="0"/>
              <a:pPr/>
              <a:t>10/6/2018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B1F61124-EB3C-4E5A-8D2D-1729B92488A4}" type="datetimeFigureOut">
              <a:rPr lang="en-US" smtClean="0"/>
              <a:pPr/>
              <a:t>10/6/2018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F61124-EB3C-4E5A-8D2D-1729B92488A4}" type="datetimeFigureOut">
              <a:rPr lang="en-US" smtClean="0"/>
              <a:pPr/>
              <a:t>10/6/2018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F61124-EB3C-4E5A-8D2D-1729B92488A4}" type="datetimeFigureOut">
              <a:rPr lang="en-US" smtClean="0"/>
              <a:pPr/>
              <a:t>10/6/2018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1F61124-EB3C-4E5A-8D2D-1729B92488A4}" type="datetimeFigureOut">
              <a:rPr lang="en-US" smtClean="0"/>
              <a:pPr/>
              <a:t>10/6/2018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1F61124-EB3C-4E5A-8D2D-1729B92488A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B1F61124-EB3C-4E5A-8D2D-1729B92488A4}" type="datetimeFigureOut">
              <a:rPr lang="en-US" smtClean="0"/>
              <a:pPr/>
              <a:t>10/6/2018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88593F7-C0DD-4538-B3AA-8DDCD895F446}"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F61124-EB3C-4E5A-8D2D-1729B92488A4}" type="datetimeFigureOut">
              <a:rPr lang="en-US" smtClean="0"/>
              <a:pPr/>
              <a:t>10/6/2018</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8593F7-C0DD-4538-B3AA-8DDCD895F446}"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14290"/>
            <a:ext cx="8572560" cy="6429419"/>
          </a:xfrm>
        </p:spPr>
        <p:txBody>
          <a:bodyPr>
            <a:normAutofit/>
          </a:bodyPr>
          <a:lstStyle/>
          <a:p>
            <a:pPr algn="l"/>
            <a:r>
              <a:rPr lang="en-GB" sz="2400" b="1" dirty="0" smtClean="0"/>
              <a:t>                                                  Question 1</a:t>
            </a:r>
            <a:br>
              <a:rPr lang="en-GB" sz="2400" b="1" dirty="0" smtClean="0"/>
            </a:br>
            <a:r>
              <a:rPr lang="en-GB" sz="2400" b="1" dirty="0" smtClean="0"/>
              <a:t>You are a skipper and also the licensee of  commercial pleasure craft  PC 1081 OL 14. Through which one of the following actions do you contribute to the safety and security of all persons onboard if your craft under charge of another skipper has been hired for a trip to </a:t>
            </a:r>
            <a:r>
              <a:rPr lang="en-GB" sz="2400" b="1" dirty="0" err="1" smtClean="0"/>
              <a:t>Ilot</a:t>
            </a:r>
            <a:r>
              <a:rPr lang="en-GB" sz="2400" b="1" dirty="0" smtClean="0"/>
              <a:t> Gabriel today?</a:t>
            </a:r>
            <a:br>
              <a:rPr lang="en-GB" sz="2400" b="1" dirty="0" smtClean="0"/>
            </a:br>
            <a:r>
              <a:rPr lang="en-GB" sz="2400" b="1" dirty="0" smtClean="0"/>
              <a:t/>
            </a:r>
            <a:br>
              <a:rPr lang="en-GB" sz="2400" b="1" dirty="0" smtClean="0"/>
            </a:br>
            <a:r>
              <a:rPr lang="en-GB" sz="2400" b="1" dirty="0" smtClean="0"/>
              <a:t>A     </a:t>
            </a:r>
            <a:r>
              <a:rPr lang="en-GB" sz="2400" dirty="0" smtClean="0"/>
              <a:t>verifying that the only operational engine  which is a 40 HP outboard motor is in perfect running condition</a:t>
            </a:r>
            <a:br>
              <a:rPr lang="en-GB" sz="2400" dirty="0" smtClean="0"/>
            </a:br>
            <a:r>
              <a:rPr lang="en-GB" sz="2400" b="1" dirty="0" smtClean="0"/>
              <a:t/>
            </a:r>
            <a:br>
              <a:rPr lang="en-GB" sz="2400" b="1" dirty="0" smtClean="0"/>
            </a:br>
            <a:r>
              <a:rPr lang="en-GB" sz="2400" b="1" dirty="0" smtClean="0"/>
              <a:t>B    </a:t>
            </a:r>
            <a:r>
              <a:rPr lang="en-GB" sz="2400" dirty="0" smtClean="0"/>
              <a:t> giving clear instructions to the skipper  that  no more than 14 persons embark the craft excluding himself</a:t>
            </a:r>
            <a:br>
              <a:rPr lang="en-GB" sz="2400" dirty="0" smtClean="0"/>
            </a:br>
            <a:r>
              <a:rPr lang="en-GB" sz="2400" b="1" dirty="0" smtClean="0"/>
              <a:t/>
            </a:r>
            <a:br>
              <a:rPr lang="en-GB" sz="2400" b="1" dirty="0" smtClean="0"/>
            </a:br>
            <a:r>
              <a:rPr lang="en-GB" sz="2400" b="1" dirty="0" smtClean="0"/>
              <a:t>C     </a:t>
            </a:r>
            <a:r>
              <a:rPr lang="en-GB" sz="2400" dirty="0" smtClean="0"/>
              <a:t>passing on to the skipper the times of high water and low water</a:t>
            </a:r>
            <a:br>
              <a:rPr lang="en-GB" sz="2400" dirty="0" smtClean="0"/>
            </a:br>
            <a:r>
              <a:rPr lang="en-GB" sz="2400" b="1" dirty="0" smtClean="0"/>
              <a:t>    </a:t>
            </a:r>
            <a:br>
              <a:rPr lang="en-GB" sz="2400" b="1" dirty="0" smtClean="0"/>
            </a:br>
            <a:r>
              <a:rPr lang="en-GB" sz="2400" b="1" dirty="0" smtClean="0"/>
              <a:t>D    </a:t>
            </a:r>
            <a:r>
              <a:rPr lang="en-GB" sz="2400" dirty="0" smtClean="0"/>
              <a:t>advising the skipper never to alter course to port  in any situation at sea</a:t>
            </a:r>
            <a:endParaRPr lang="en-GB" sz="2400" b="1" dirty="0"/>
          </a:p>
        </p:txBody>
      </p:sp>
      <p:sp>
        <p:nvSpPr>
          <p:cNvPr id="3" name="Subtitle 2"/>
          <p:cNvSpPr>
            <a:spLocks noGrp="1"/>
          </p:cNvSpPr>
          <p:nvPr>
            <p:ph type="subTitle" idx="1"/>
          </p:nvPr>
        </p:nvSpPr>
        <p:spPr>
          <a:xfrm flipH="1">
            <a:off x="10215602" y="3886200"/>
            <a:ext cx="714380" cy="1752600"/>
          </a:xfrm>
        </p:spPr>
        <p:txBody>
          <a:bodyPr/>
          <a:lstStyle/>
          <a:p>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14282" y="357166"/>
            <a:ext cx="8643998" cy="6215105"/>
          </a:xfrm>
        </p:spPr>
        <p:txBody>
          <a:bodyPr>
            <a:noAutofit/>
          </a:bodyPr>
          <a:lstStyle/>
          <a:p>
            <a:pPr algn="l"/>
            <a:r>
              <a:rPr lang="en-GB" sz="2400" b="1" dirty="0" smtClean="0"/>
              <a:t>                                               Question 2</a:t>
            </a:r>
            <a:br>
              <a:rPr lang="en-GB" sz="2400" b="1" dirty="0" smtClean="0"/>
            </a:br>
            <a:r>
              <a:rPr lang="en-GB" sz="2400" b="1" dirty="0" smtClean="0"/>
              <a:t>Which one of the following actions by a licensed skipper </a:t>
            </a:r>
            <a:r>
              <a:rPr lang="en-GB" sz="2400" b="1" u="sng" dirty="0" smtClean="0"/>
              <a:t>DOES NOT </a:t>
            </a:r>
            <a:r>
              <a:rPr lang="en-GB" sz="2400" b="1" dirty="0" smtClean="0"/>
              <a:t>amount to an offence under the Tourism Authority Act 2006 ?</a:t>
            </a:r>
            <a:br>
              <a:rPr lang="en-GB" sz="2400" b="1" dirty="0" smtClean="0"/>
            </a:br>
            <a:r>
              <a:rPr lang="en-GB" sz="2400" b="1" dirty="0" smtClean="0"/>
              <a:t/>
            </a:r>
            <a:br>
              <a:rPr lang="en-GB" sz="2400" b="1" dirty="0" smtClean="0"/>
            </a:br>
            <a:r>
              <a:rPr lang="en-GB" sz="2400" b="1" dirty="0" smtClean="0"/>
              <a:t>A </a:t>
            </a:r>
            <a:r>
              <a:rPr lang="en-GB" sz="2400" dirty="0" smtClean="0"/>
              <a:t> failing to report an accident where his pleasure craft has sustained a damage within 24 hours to the Director of the Tourism Authority</a:t>
            </a:r>
            <a:br>
              <a:rPr lang="en-GB" sz="2400" dirty="0" smtClean="0"/>
            </a:br>
            <a:r>
              <a:rPr lang="en-GB" sz="2400" b="1" dirty="0" smtClean="0"/>
              <a:t/>
            </a:r>
            <a:br>
              <a:rPr lang="en-GB" sz="2400" b="1" dirty="0" smtClean="0"/>
            </a:br>
            <a:r>
              <a:rPr lang="en-GB" sz="2400" b="1" dirty="0" smtClean="0"/>
              <a:t>B  </a:t>
            </a:r>
            <a:r>
              <a:rPr lang="en-GB" sz="2400" dirty="0" smtClean="0"/>
              <a:t>failing to give the name and address of the owner of the pleasure craft when so requested by an authorised officer</a:t>
            </a:r>
            <a:br>
              <a:rPr lang="en-GB" sz="2400" dirty="0" smtClean="0"/>
            </a:br>
            <a:r>
              <a:rPr lang="en-GB" sz="2400" b="1" dirty="0" smtClean="0"/>
              <a:t/>
            </a:r>
            <a:br>
              <a:rPr lang="en-GB" sz="2400" b="1" dirty="0" smtClean="0"/>
            </a:br>
            <a:r>
              <a:rPr lang="en-GB" sz="2400" b="1" dirty="0" smtClean="0"/>
              <a:t>C  </a:t>
            </a:r>
            <a:r>
              <a:rPr lang="en-GB" sz="2400" dirty="0" smtClean="0"/>
              <a:t>operating a pleasure craft for private purposes when being  only 16 years old</a:t>
            </a:r>
            <a:br>
              <a:rPr lang="en-GB" sz="2400" dirty="0" smtClean="0"/>
            </a:br>
            <a:r>
              <a:rPr lang="en-GB" sz="2400" b="1" dirty="0" smtClean="0"/>
              <a:t/>
            </a:r>
            <a:br>
              <a:rPr lang="en-GB" sz="2400" b="1" dirty="0" smtClean="0"/>
            </a:br>
            <a:r>
              <a:rPr lang="en-GB" sz="2400" b="1" dirty="0" smtClean="0"/>
              <a:t>D  </a:t>
            </a:r>
            <a:r>
              <a:rPr lang="en-GB" sz="2400" dirty="0" smtClean="0"/>
              <a:t>operating a pleasure craft at a speed of 12 knots in the channel of Grand River South East </a:t>
            </a:r>
            <a:endParaRPr lang="en-GB" sz="2400" b="1" dirty="0"/>
          </a:p>
        </p:txBody>
      </p:sp>
      <p:sp>
        <p:nvSpPr>
          <p:cNvPr id="3" name="Subtitle 2"/>
          <p:cNvSpPr>
            <a:spLocks noGrp="1"/>
          </p:cNvSpPr>
          <p:nvPr>
            <p:ph type="subTitle" idx="1"/>
          </p:nvPr>
        </p:nvSpPr>
        <p:spPr>
          <a:xfrm flipH="1">
            <a:off x="10429916" y="3886200"/>
            <a:ext cx="428628" cy="1752600"/>
          </a:xfrm>
        </p:spPr>
        <p:txBody>
          <a:bodyPr/>
          <a:lstStyle/>
          <a:p>
            <a:endParaRPr lang="en-GB"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a:bodyPr>
          <a:lstStyle/>
          <a:p>
            <a:pPr algn="l"/>
            <a:r>
              <a:rPr lang="en-GB" sz="2400" b="1" dirty="0" smtClean="0"/>
              <a:t>                                                   Question 3</a:t>
            </a:r>
            <a:br>
              <a:rPr lang="en-GB" sz="2400" b="1" dirty="0" smtClean="0"/>
            </a:br>
            <a:r>
              <a:rPr lang="en-GB" sz="2400" b="1" dirty="0" smtClean="0"/>
              <a:t>While standing on the stem of a pleasure craft and facing aft at night, the </a:t>
            </a:r>
            <a:r>
              <a:rPr lang="en-GB" sz="2400" b="1" dirty="0" err="1" smtClean="0"/>
              <a:t>sternlight</a:t>
            </a:r>
            <a:r>
              <a:rPr lang="en-GB" sz="2400" b="1" dirty="0" smtClean="0"/>
              <a:t> shall </a:t>
            </a:r>
            <a:br>
              <a:rPr lang="en-GB" sz="2400" b="1" dirty="0" smtClean="0"/>
            </a:br>
            <a:r>
              <a:rPr lang="en-GB" sz="2400" b="1" dirty="0" smtClean="0"/>
              <a:t/>
            </a:r>
            <a:br>
              <a:rPr lang="en-GB" sz="2400" b="1" dirty="0" smtClean="0"/>
            </a:br>
            <a:r>
              <a:rPr lang="en-GB" sz="2400" b="1" dirty="0" smtClean="0"/>
              <a:t>A </a:t>
            </a:r>
            <a:r>
              <a:rPr lang="en-GB" sz="2400" dirty="0" smtClean="0"/>
              <a:t> be visual on your left hand side</a:t>
            </a:r>
            <a:br>
              <a:rPr lang="en-GB" sz="2400" dirty="0" smtClean="0"/>
            </a:br>
            <a:r>
              <a:rPr lang="en-GB" sz="2400" b="1" dirty="0" smtClean="0"/>
              <a:t/>
            </a:r>
            <a:br>
              <a:rPr lang="en-GB" sz="2400" b="1" dirty="0" smtClean="0"/>
            </a:br>
            <a:r>
              <a:rPr lang="en-GB" sz="2400" b="1" dirty="0" smtClean="0"/>
              <a:t>B  </a:t>
            </a:r>
            <a:r>
              <a:rPr lang="en-GB" sz="2400" dirty="0" smtClean="0"/>
              <a:t>not be visual</a:t>
            </a:r>
            <a:br>
              <a:rPr lang="en-GB" sz="2400" dirty="0" smtClean="0"/>
            </a:br>
            <a:r>
              <a:rPr lang="en-GB" sz="2400" b="1" dirty="0" smtClean="0"/>
              <a:t/>
            </a:r>
            <a:br>
              <a:rPr lang="en-GB" sz="2400" b="1" dirty="0" smtClean="0"/>
            </a:br>
            <a:r>
              <a:rPr lang="en-GB" sz="2400" b="1" dirty="0" smtClean="0"/>
              <a:t>C   </a:t>
            </a:r>
            <a:r>
              <a:rPr lang="en-GB" sz="2400" dirty="0" smtClean="0"/>
              <a:t>be visual on your right hand side</a:t>
            </a:r>
            <a:br>
              <a:rPr lang="en-GB" sz="2400" dirty="0" smtClean="0"/>
            </a:br>
            <a:r>
              <a:rPr lang="en-GB" sz="2400" b="1" dirty="0" smtClean="0"/>
              <a:t/>
            </a:r>
            <a:br>
              <a:rPr lang="en-GB" sz="2400" b="1" dirty="0" smtClean="0"/>
            </a:br>
            <a:r>
              <a:rPr lang="en-GB" sz="2400" b="1" dirty="0" smtClean="0"/>
              <a:t>D  </a:t>
            </a:r>
            <a:r>
              <a:rPr lang="en-GB" sz="2400" dirty="0" smtClean="0"/>
              <a:t>be</a:t>
            </a:r>
            <a:r>
              <a:rPr lang="en-GB" sz="2400" b="1" dirty="0" smtClean="0"/>
              <a:t> </a:t>
            </a:r>
            <a:r>
              <a:rPr lang="en-GB" sz="2400" dirty="0" smtClean="0"/>
              <a:t>visual but green coloured</a:t>
            </a:r>
            <a:endParaRPr lang="en-GB" sz="2400" b="1" dirty="0"/>
          </a:p>
        </p:txBody>
      </p:sp>
      <p:sp>
        <p:nvSpPr>
          <p:cNvPr id="3" name="Subtitle 2"/>
          <p:cNvSpPr>
            <a:spLocks noGrp="1"/>
          </p:cNvSpPr>
          <p:nvPr>
            <p:ph type="subTitle" idx="1"/>
          </p:nvPr>
        </p:nvSpPr>
        <p:spPr>
          <a:xfrm flipH="1">
            <a:off x="9572660" y="3886200"/>
            <a:ext cx="357190" cy="1752600"/>
          </a:xfrm>
        </p:spPr>
        <p:txBody>
          <a:bodyPr/>
          <a:lstStyle/>
          <a:p>
            <a:endParaRPr lang="en-GB"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357166"/>
            <a:ext cx="8429684" cy="6215105"/>
          </a:xfrm>
        </p:spPr>
        <p:txBody>
          <a:bodyPr>
            <a:normAutofit/>
          </a:bodyPr>
          <a:lstStyle/>
          <a:p>
            <a:pPr algn="l"/>
            <a:r>
              <a:rPr lang="en-GB" sz="2400" b="1" dirty="0" smtClean="0"/>
              <a:t>                                                Question 4</a:t>
            </a:r>
            <a:br>
              <a:rPr lang="en-GB" sz="2400" b="1" dirty="0" smtClean="0"/>
            </a:br>
            <a:r>
              <a:rPr lang="en-GB" sz="2400" b="1" dirty="0" smtClean="0"/>
              <a:t/>
            </a:r>
            <a:br>
              <a:rPr lang="en-GB" sz="2400" b="1" dirty="0" smtClean="0"/>
            </a:br>
            <a:r>
              <a:rPr lang="en-GB" sz="2400" b="1" dirty="0" smtClean="0"/>
              <a:t>Assuming a craft is at sea and her port side is receiving the wind. This side is referred to as</a:t>
            </a:r>
            <a:br>
              <a:rPr lang="en-GB" sz="2400" b="1" dirty="0" smtClean="0"/>
            </a:br>
            <a:r>
              <a:rPr lang="en-GB" sz="2400" b="1" dirty="0" smtClean="0"/>
              <a:t/>
            </a:r>
            <a:br>
              <a:rPr lang="en-GB" sz="2400" b="1" dirty="0" smtClean="0"/>
            </a:br>
            <a:r>
              <a:rPr lang="en-GB" sz="2400" b="1" dirty="0" smtClean="0"/>
              <a:t>A </a:t>
            </a:r>
            <a:r>
              <a:rPr lang="en-GB" sz="2400" b="1" dirty="0"/>
              <a:t>  </a:t>
            </a:r>
            <a:r>
              <a:rPr lang="en-GB" sz="2400" dirty="0" smtClean="0"/>
              <a:t>the port leeward side</a:t>
            </a:r>
            <a:br>
              <a:rPr lang="en-GB" sz="2400" dirty="0" smtClean="0"/>
            </a:br>
            <a:r>
              <a:rPr lang="en-GB" sz="2400" b="1" dirty="0" smtClean="0"/>
              <a:t/>
            </a:r>
            <a:br>
              <a:rPr lang="en-GB" sz="2400" b="1" dirty="0" smtClean="0"/>
            </a:br>
            <a:r>
              <a:rPr lang="en-GB" sz="2400" b="1" dirty="0" smtClean="0"/>
              <a:t>B   </a:t>
            </a:r>
            <a:r>
              <a:rPr lang="en-GB" sz="2400" dirty="0" smtClean="0"/>
              <a:t>the leeward side</a:t>
            </a:r>
            <a:br>
              <a:rPr lang="en-GB" sz="2400" dirty="0" smtClean="0"/>
            </a:br>
            <a:r>
              <a:rPr lang="en-GB" sz="2400" b="1" dirty="0" smtClean="0"/>
              <a:t/>
            </a:r>
            <a:br>
              <a:rPr lang="en-GB" sz="2400" b="1" dirty="0" smtClean="0"/>
            </a:br>
            <a:r>
              <a:rPr lang="en-GB" sz="2400" b="1" dirty="0" smtClean="0"/>
              <a:t>C    </a:t>
            </a:r>
            <a:r>
              <a:rPr lang="en-GB" sz="2400" dirty="0" smtClean="0"/>
              <a:t>the port windward side</a:t>
            </a:r>
            <a:br>
              <a:rPr lang="en-GB" sz="2400" dirty="0" smtClean="0"/>
            </a:br>
            <a:r>
              <a:rPr lang="en-GB" sz="2400" b="1" dirty="0" smtClean="0"/>
              <a:t/>
            </a:r>
            <a:br>
              <a:rPr lang="en-GB" sz="2400" b="1" dirty="0" smtClean="0"/>
            </a:br>
            <a:r>
              <a:rPr lang="en-GB" sz="2400" b="1" dirty="0"/>
              <a:t>D</a:t>
            </a:r>
            <a:r>
              <a:rPr lang="en-GB" sz="2400" b="1" dirty="0" smtClean="0"/>
              <a:t>   </a:t>
            </a:r>
            <a:r>
              <a:rPr lang="en-GB" sz="2400" dirty="0" smtClean="0"/>
              <a:t>the windward side</a:t>
            </a:r>
            <a:endParaRPr lang="en-GB" sz="2400" b="1" dirty="0"/>
          </a:p>
        </p:txBody>
      </p:sp>
      <p:sp>
        <p:nvSpPr>
          <p:cNvPr id="3" name="Subtitle 2"/>
          <p:cNvSpPr>
            <a:spLocks noGrp="1"/>
          </p:cNvSpPr>
          <p:nvPr>
            <p:ph type="subTitle" idx="1"/>
          </p:nvPr>
        </p:nvSpPr>
        <p:spPr>
          <a:xfrm flipH="1">
            <a:off x="9786974" y="3886200"/>
            <a:ext cx="1357322" cy="1752600"/>
          </a:xfrm>
        </p:spPr>
        <p:txBody>
          <a:bodyPr/>
          <a:lstStyle/>
          <a:p>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14290"/>
            <a:ext cx="8429684" cy="6286543"/>
          </a:xfrm>
        </p:spPr>
        <p:txBody>
          <a:bodyPr>
            <a:normAutofit fontScale="90000"/>
          </a:bodyPr>
          <a:lstStyle/>
          <a:p>
            <a:pPr algn="l"/>
            <a:r>
              <a:rPr lang="en-GB" sz="2400" b="1" dirty="0" smtClean="0"/>
              <a:t>                                                     Question 5</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You were heading on </a:t>
            </a:r>
            <a:r>
              <a:rPr lang="en-GB" sz="2400" b="1" dirty="0" err="1" smtClean="0"/>
              <a:t>Ilot</a:t>
            </a:r>
            <a:r>
              <a:rPr lang="en-GB" sz="2400" b="1" dirty="0" smtClean="0"/>
              <a:t> Benoit lighthouse by a gyro compass when suddenly the engine failed. You dropped the anchor and decided to call the NCG for assistance before attempting to rectify the defect. You would report the position of your craft as being</a:t>
            </a:r>
            <a:br>
              <a:rPr lang="en-GB" sz="2400" b="1" dirty="0" smtClean="0"/>
            </a:br>
            <a:r>
              <a:rPr lang="en-GB" sz="2400" b="1" dirty="0" smtClean="0"/>
              <a:t>A   </a:t>
            </a:r>
            <a:r>
              <a:rPr lang="en-GB" sz="2400" dirty="0" smtClean="0"/>
              <a:t>west of </a:t>
            </a:r>
            <a:r>
              <a:rPr lang="en-GB" sz="2400" dirty="0" err="1" smtClean="0"/>
              <a:t>Ilot</a:t>
            </a:r>
            <a:r>
              <a:rPr lang="en-GB" sz="2400" dirty="0" smtClean="0"/>
              <a:t> Benoit lighthouse</a:t>
            </a:r>
            <a:r>
              <a:rPr lang="en-GB" sz="2400" b="1" dirty="0" smtClean="0"/>
              <a:t/>
            </a:r>
            <a:br>
              <a:rPr lang="en-GB" sz="2400" b="1" dirty="0" smtClean="0"/>
            </a:br>
            <a:r>
              <a:rPr lang="en-GB" sz="2400" b="1" dirty="0" smtClean="0"/>
              <a:t>B   </a:t>
            </a:r>
            <a:r>
              <a:rPr lang="en-GB" sz="2400" dirty="0" smtClean="0"/>
              <a:t>on bearing 022◦ T from </a:t>
            </a:r>
            <a:r>
              <a:rPr lang="en-GB" sz="2400" dirty="0" err="1" smtClean="0"/>
              <a:t>Ilot</a:t>
            </a:r>
            <a:r>
              <a:rPr lang="en-GB" sz="2400" dirty="0" smtClean="0"/>
              <a:t> Benoit lighthouse</a:t>
            </a:r>
            <a:r>
              <a:rPr lang="en-GB" sz="2400" b="1" dirty="0" smtClean="0"/>
              <a:t/>
            </a:r>
            <a:br>
              <a:rPr lang="en-GB" sz="2400" b="1" dirty="0" smtClean="0"/>
            </a:br>
            <a:r>
              <a:rPr lang="en-GB" sz="2400" b="1" dirty="0" smtClean="0"/>
              <a:t>C   </a:t>
            </a:r>
            <a:r>
              <a:rPr lang="en-GB" sz="2400" dirty="0" smtClean="0"/>
              <a:t>south west of </a:t>
            </a:r>
            <a:r>
              <a:rPr lang="en-GB" sz="2400" dirty="0" err="1" smtClean="0"/>
              <a:t>Ilot</a:t>
            </a:r>
            <a:r>
              <a:rPr lang="en-GB" sz="2400" dirty="0" smtClean="0"/>
              <a:t> Benoit lighthouse</a:t>
            </a:r>
            <a:r>
              <a:rPr lang="en-GB" sz="2400" b="1" dirty="0" smtClean="0"/>
              <a:t/>
            </a:r>
            <a:br>
              <a:rPr lang="en-GB" sz="2400" b="1" dirty="0" smtClean="0"/>
            </a:br>
            <a:r>
              <a:rPr lang="en-GB" sz="2400" b="1" dirty="0" smtClean="0"/>
              <a:t>D   </a:t>
            </a:r>
            <a:r>
              <a:rPr lang="en-GB" sz="2400" dirty="0" smtClean="0"/>
              <a:t>east of </a:t>
            </a:r>
            <a:r>
              <a:rPr lang="en-GB" sz="2400" dirty="0" err="1" smtClean="0"/>
              <a:t>Ilot</a:t>
            </a:r>
            <a:r>
              <a:rPr lang="en-GB" sz="2400" dirty="0" smtClean="0"/>
              <a:t> Benoit lighthouse</a:t>
            </a:r>
            <a:endParaRPr lang="en-GB" sz="2400" b="1" dirty="0"/>
          </a:p>
        </p:txBody>
      </p:sp>
      <p:sp>
        <p:nvSpPr>
          <p:cNvPr id="3" name="Subtitle 2"/>
          <p:cNvSpPr>
            <a:spLocks noGrp="1"/>
          </p:cNvSpPr>
          <p:nvPr>
            <p:ph type="subTitle" idx="1"/>
          </p:nvPr>
        </p:nvSpPr>
        <p:spPr>
          <a:xfrm flipH="1">
            <a:off x="9644098" y="3886200"/>
            <a:ext cx="1214446" cy="1752600"/>
          </a:xfrm>
        </p:spPr>
        <p:txBody>
          <a:bodyPr/>
          <a:lstStyle/>
          <a:p>
            <a:endParaRPr lang="en-GB" dirty="0"/>
          </a:p>
        </p:txBody>
      </p:sp>
      <p:pic>
        <p:nvPicPr>
          <p:cNvPr id="1026" name="Picture 2" descr="C:\Users\lifebook\Downloads\brg 2.png"/>
          <p:cNvPicPr>
            <a:picLocks noChangeAspect="1" noChangeArrowheads="1"/>
          </p:cNvPicPr>
          <p:nvPr/>
        </p:nvPicPr>
        <p:blipFill>
          <a:blip r:embed="rId2"/>
          <a:srcRect/>
          <a:stretch>
            <a:fillRect/>
          </a:stretch>
        </p:blipFill>
        <p:spPr bwMode="auto">
          <a:xfrm>
            <a:off x="3357554" y="428604"/>
            <a:ext cx="2286016" cy="3429024"/>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9"/>
            <a:ext cx="8429684" cy="6286544"/>
          </a:xfrm>
        </p:spPr>
        <p:txBody>
          <a:bodyPr>
            <a:normAutofit/>
          </a:bodyPr>
          <a:lstStyle/>
          <a:p>
            <a:pPr algn="l"/>
            <a:r>
              <a:rPr lang="en-GB" sz="2400" b="1" dirty="0" smtClean="0"/>
              <a:t>                                                  Question 6</a:t>
            </a:r>
            <a:br>
              <a:rPr lang="en-GB" sz="2400" b="1" dirty="0" smtClean="0"/>
            </a:br>
            <a:r>
              <a:rPr lang="en-GB" sz="2400" b="1" dirty="0"/>
              <a:t/>
            </a:r>
            <a:br>
              <a:rPr lang="en-GB" sz="2400" b="1" dirty="0"/>
            </a:br>
            <a:r>
              <a:rPr lang="en-GB" sz="2400" b="1" dirty="0" smtClean="0"/>
              <a:t>Your pleasure craft is covering an average distance of 1.2 nautical miles within every 6 minutes. She is then proceeding at an average speed of</a:t>
            </a:r>
            <a:br>
              <a:rPr lang="en-GB" sz="2400" b="1" dirty="0" smtClean="0"/>
            </a:br>
            <a:r>
              <a:rPr lang="en-GB" sz="2400" b="1" dirty="0" smtClean="0"/>
              <a:t/>
            </a:r>
            <a:br>
              <a:rPr lang="en-GB" sz="2400" b="1" dirty="0" smtClean="0"/>
            </a:br>
            <a:r>
              <a:rPr lang="en-GB" sz="2400" b="1" dirty="0" smtClean="0"/>
              <a:t>A    </a:t>
            </a:r>
            <a:r>
              <a:rPr lang="en-GB" sz="2400" dirty="0" smtClean="0"/>
              <a:t>6 Knots</a:t>
            </a:r>
            <a:br>
              <a:rPr lang="en-GB" sz="2400" dirty="0" smtClean="0"/>
            </a:br>
            <a:r>
              <a:rPr lang="en-GB" sz="2400" b="1" dirty="0" smtClean="0"/>
              <a:t/>
            </a:r>
            <a:br>
              <a:rPr lang="en-GB" sz="2400" b="1" dirty="0" smtClean="0"/>
            </a:br>
            <a:r>
              <a:rPr lang="en-GB" sz="2400" b="1" dirty="0" smtClean="0"/>
              <a:t>B   </a:t>
            </a:r>
            <a:r>
              <a:rPr lang="en-GB" sz="2400" dirty="0" smtClean="0"/>
              <a:t>12 knots</a:t>
            </a:r>
            <a:br>
              <a:rPr lang="en-GB" sz="2400" dirty="0" smtClean="0"/>
            </a:br>
            <a:r>
              <a:rPr lang="en-GB" sz="2400" b="1" dirty="0" smtClean="0"/>
              <a:t/>
            </a:r>
            <a:br>
              <a:rPr lang="en-GB" sz="2400" b="1" dirty="0" smtClean="0"/>
            </a:br>
            <a:r>
              <a:rPr lang="en-GB" sz="2400" b="1" dirty="0" smtClean="0"/>
              <a:t>C   </a:t>
            </a:r>
            <a:r>
              <a:rPr lang="en-GB" sz="2400" dirty="0" smtClean="0"/>
              <a:t>18 knots</a:t>
            </a:r>
            <a:br>
              <a:rPr lang="en-GB" sz="2400" dirty="0" smtClean="0"/>
            </a:br>
            <a:r>
              <a:rPr lang="en-GB" sz="2400" b="1" dirty="0" smtClean="0"/>
              <a:t/>
            </a:r>
            <a:br>
              <a:rPr lang="en-GB" sz="2400" b="1" dirty="0" smtClean="0"/>
            </a:br>
            <a:r>
              <a:rPr lang="en-GB" sz="2400" b="1" dirty="0" smtClean="0"/>
              <a:t>D   </a:t>
            </a:r>
            <a:r>
              <a:rPr lang="en-GB" sz="2400" dirty="0" smtClean="0"/>
              <a:t>24 knots</a:t>
            </a:r>
            <a:r>
              <a:rPr lang="en-GB" dirty="0" smtClean="0"/>
              <a:t/>
            </a:r>
            <a:br>
              <a:rPr lang="en-GB" dirty="0" smtClean="0"/>
            </a:br>
            <a:endParaRPr lang="en-GB" dirty="0"/>
          </a:p>
        </p:txBody>
      </p:sp>
      <p:sp>
        <p:nvSpPr>
          <p:cNvPr id="3" name="Subtitle 2"/>
          <p:cNvSpPr>
            <a:spLocks noGrp="1"/>
          </p:cNvSpPr>
          <p:nvPr>
            <p:ph type="subTitle" idx="1"/>
          </p:nvPr>
        </p:nvSpPr>
        <p:spPr>
          <a:xfrm flipH="1">
            <a:off x="10072726" y="3886200"/>
            <a:ext cx="928694" cy="1752600"/>
          </a:xfrm>
        </p:spPr>
        <p:txBody>
          <a:bodyPr/>
          <a:lstStyle/>
          <a:p>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429684" cy="6286543"/>
          </a:xfrm>
        </p:spPr>
        <p:txBody>
          <a:bodyPr>
            <a:normAutofit/>
          </a:bodyPr>
          <a:lstStyle/>
          <a:p>
            <a:pPr algn="l"/>
            <a:r>
              <a:rPr lang="en-GB" sz="2400" b="1" dirty="0" smtClean="0"/>
              <a:t>                                                    Question 7</a:t>
            </a:r>
            <a:br>
              <a:rPr lang="en-GB" sz="2400" b="1" dirty="0" smtClean="0"/>
            </a:br>
            <a:r>
              <a:rPr lang="en-GB" sz="2400" b="1" dirty="0"/>
              <a:t/>
            </a:r>
            <a:br>
              <a:rPr lang="en-GB" sz="2400" b="1" dirty="0"/>
            </a:br>
            <a:r>
              <a:rPr lang="en-GB" sz="2400" b="1" dirty="0" smtClean="0"/>
              <a:t>If your GPS is showing your position as</a:t>
            </a:r>
            <a:br>
              <a:rPr lang="en-GB" sz="2400" b="1" dirty="0" smtClean="0"/>
            </a:br>
            <a:r>
              <a:rPr lang="en-GB" sz="2400" b="1" dirty="0" smtClean="0"/>
              <a:t> 00◦ 23 '.123 N     000◦ 14'.701 E, your pleasure craft shall be</a:t>
            </a:r>
            <a:br>
              <a:rPr lang="en-GB" sz="2400" b="1" dirty="0" smtClean="0"/>
            </a:br>
            <a:r>
              <a:rPr lang="en-GB" sz="2400" b="1" dirty="0" smtClean="0"/>
              <a:t/>
            </a:r>
            <a:br>
              <a:rPr lang="en-GB" sz="2400" b="1" dirty="0" smtClean="0"/>
            </a:br>
            <a:r>
              <a:rPr lang="en-GB" sz="2400" b="1" dirty="0" smtClean="0"/>
              <a:t>A   </a:t>
            </a:r>
            <a:r>
              <a:rPr lang="en-GB" sz="2400" dirty="0" smtClean="0"/>
              <a:t>in the southern hemisphere</a:t>
            </a:r>
            <a:br>
              <a:rPr lang="en-GB" sz="2400" dirty="0" smtClean="0"/>
            </a:br>
            <a:r>
              <a:rPr lang="en-GB" sz="2400" dirty="0" smtClean="0"/>
              <a:t/>
            </a:r>
            <a:br>
              <a:rPr lang="en-GB" sz="2400" dirty="0" smtClean="0"/>
            </a:br>
            <a:r>
              <a:rPr lang="en-GB" sz="2400" b="1" dirty="0" smtClean="0"/>
              <a:t>B   </a:t>
            </a:r>
            <a:r>
              <a:rPr lang="en-GB" sz="2400" dirty="0" smtClean="0"/>
              <a:t>on a  latitude which is 23.123 nautical miles south of the equator</a:t>
            </a:r>
            <a:br>
              <a:rPr lang="en-GB" sz="2400" dirty="0" smtClean="0"/>
            </a:br>
            <a:r>
              <a:rPr lang="en-GB" sz="2400" b="1" dirty="0" smtClean="0"/>
              <a:t/>
            </a:r>
            <a:br>
              <a:rPr lang="en-GB" sz="2400" b="1" dirty="0" smtClean="0"/>
            </a:br>
            <a:r>
              <a:rPr lang="en-GB" sz="2400" b="1" dirty="0" smtClean="0"/>
              <a:t>C   </a:t>
            </a:r>
            <a:r>
              <a:rPr lang="en-GB" sz="2400" dirty="0" smtClean="0"/>
              <a:t>in the northern hemisphere and east of the Greenwich Meridian</a:t>
            </a:r>
            <a:br>
              <a:rPr lang="en-GB" sz="2400" dirty="0" smtClean="0"/>
            </a:br>
            <a:r>
              <a:rPr lang="en-GB" sz="2400" b="1" dirty="0" smtClean="0"/>
              <a:t/>
            </a:r>
            <a:br>
              <a:rPr lang="en-GB" sz="2400" b="1" dirty="0" smtClean="0"/>
            </a:br>
            <a:r>
              <a:rPr lang="en-GB" sz="2400" b="1" dirty="0" smtClean="0"/>
              <a:t>D  </a:t>
            </a:r>
            <a:r>
              <a:rPr lang="en-GB" sz="2400" dirty="0" smtClean="0"/>
              <a:t>on a longitude which is west of the Greenwich Meridian subtending an angle of 14.701 minutes at the centre of the earth</a:t>
            </a:r>
            <a:endParaRPr lang="en-GB" sz="2400" b="1" dirty="0"/>
          </a:p>
        </p:txBody>
      </p:sp>
      <p:sp>
        <p:nvSpPr>
          <p:cNvPr id="3" name="Subtitle 2"/>
          <p:cNvSpPr>
            <a:spLocks noGrp="1"/>
          </p:cNvSpPr>
          <p:nvPr>
            <p:ph type="subTitle" idx="1"/>
          </p:nvPr>
        </p:nvSpPr>
        <p:spPr>
          <a:xfrm flipH="1">
            <a:off x="10429916" y="3886200"/>
            <a:ext cx="71438" cy="1752600"/>
          </a:xfrm>
        </p:spPr>
        <p:txBody>
          <a:bodyPr/>
          <a:lstStyle/>
          <a:p>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286543"/>
          </a:xfrm>
        </p:spPr>
        <p:txBody>
          <a:bodyPr>
            <a:normAutofit fontScale="90000"/>
          </a:bodyPr>
          <a:lstStyle/>
          <a:p>
            <a:pPr algn="l"/>
            <a:r>
              <a:rPr lang="en-GB" sz="2700" b="1" dirty="0" smtClean="0"/>
              <a:t>.</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smtClean="0"/>
              <a:t/>
            </a:r>
            <a:br>
              <a:rPr lang="en-GB" sz="2700" b="1" dirty="0" smtClean="0"/>
            </a:br>
            <a:r>
              <a:rPr lang="en-GB" sz="2700" b="1" dirty="0"/>
              <a:t/>
            </a:r>
            <a:br>
              <a:rPr lang="en-GB" sz="2700" b="1" dirty="0"/>
            </a:br>
            <a:r>
              <a:rPr lang="en-GB" sz="2700" b="1" dirty="0" smtClean="0"/>
              <a:t>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smtClean="0"/>
              <a:t/>
            </a:r>
            <a:br>
              <a:rPr lang="en-GB" sz="2700" b="1" dirty="0" smtClean="0"/>
            </a:br>
            <a:r>
              <a:rPr lang="en-GB" sz="2700" b="1" dirty="0"/>
              <a:t/>
            </a:r>
            <a:br>
              <a:rPr lang="en-GB" sz="2700" b="1" dirty="0"/>
            </a:br>
            <a:r>
              <a:rPr lang="en-GB" sz="2700" b="1" dirty="0" smtClean="0"/>
              <a:t>                                                  Question 8</a:t>
            </a:r>
            <a:br>
              <a:rPr lang="en-GB" sz="2700" b="1" dirty="0" smtClean="0"/>
            </a:br>
            <a:r>
              <a:rPr lang="en-GB" sz="2700" b="1" dirty="0" smtClean="0"/>
              <a:t>You are steering 260 ◦C at 12 knots and you notice this buoy right ahead of you at a distance of  about 500 metres. As a competent skipper, which manoeuvre will you carry out?</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smtClean="0"/>
              <a:t/>
            </a:r>
            <a:br>
              <a:rPr lang="en-GB" sz="2700" b="1" dirty="0" smtClean="0"/>
            </a:br>
            <a:r>
              <a:rPr lang="en-GB" sz="2700" b="1" dirty="0" smtClean="0"/>
              <a:t>A </a:t>
            </a:r>
            <a:r>
              <a:rPr lang="en-GB" sz="2700" dirty="0" smtClean="0"/>
              <a:t> slow down and alter course  to 200</a:t>
            </a:r>
            <a:r>
              <a:rPr lang="en-GB" sz="2700" b="1" dirty="0" smtClean="0"/>
              <a:t> ◦</a:t>
            </a:r>
            <a:r>
              <a:rPr lang="en-GB" sz="2700" dirty="0" smtClean="0"/>
              <a:t> C</a:t>
            </a:r>
            <a:r>
              <a:rPr lang="en-GB" sz="2700" b="1" dirty="0" smtClean="0"/>
              <a:t/>
            </a:r>
            <a:br>
              <a:rPr lang="en-GB" sz="2700" b="1" dirty="0" smtClean="0"/>
            </a:br>
            <a:r>
              <a:rPr lang="en-GB" sz="2700" b="1" dirty="0" smtClean="0"/>
              <a:t>B   </a:t>
            </a:r>
            <a:r>
              <a:rPr lang="en-GB" sz="2700" dirty="0" smtClean="0"/>
              <a:t>increase speed up to 16 knots and pass not less than 50 metres downwind.</a:t>
            </a:r>
            <a:r>
              <a:rPr lang="en-GB" sz="2700" b="1" dirty="0" smtClean="0"/>
              <a:t/>
            </a:r>
            <a:br>
              <a:rPr lang="en-GB" sz="2700" b="1" dirty="0" smtClean="0"/>
            </a:br>
            <a:r>
              <a:rPr lang="en-GB" sz="2700" b="1" dirty="0" smtClean="0"/>
              <a:t>C   </a:t>
            </a:r>
            <a:r>
              <a:rPr lang="en-GB" sz="2700" dirty="0" smtClean="0"/>
              <a:t>slow down and alter course to 320</a:t>
            </a:r>
            <a:r>
              <a:rPr lang="en-GB" sz="2700" b="1" dirty="0" smtClean="0"/>
              <a:t> ◦</a:t>
            </a:r>
            <a:r>
              <a:rPr lang="en-GB" sz="2700" dirty="0" smtClean="0"/>
              <a:t> C</a:t>
            </a:r>
            <a:r>
              <a:rPr lang="en-GB" sz="2700" b="1" dirty="0" smtClean="0"/>
              <a:t/>
            </a:r>
            <a:br>
              <a:rPr lang="en-GB" sz="2700" b="1" dirty="0" smtClean="0"/>
            </a:br>
            <a:r>
              <a:rPr lang="en-GB" sz="2700" b="1" dirty="0" smtClean="0"/>
              <a:t>D  </a:t>
            </a:r>
            <a:r>
              <a:rPr lang="en-GB" sz="2700" dirty="0" smtClean="0"/>
              <a:t>slow down and pass close enough to the buoy but downwind</a:t>
            </a:r>
            <a:r>
              <a:rPr lang="en-GB" sz="2700" b="1" dirty="0" smtClean="0"/>
              <a:t/>
            </a:r>
            <a:br>
              <a:rPr lang="en-GB" sz="2700" b="1" dirty="0" smtClean="0"/>
            </a:br>
            <a:r>
              <a:rPr lang="en-GB" sz="2700" b="1" dirty="0" smtClean="0"/>
              <a:t/>
            </a:r>
            <a:br>
              <a:rPr lang="en-GB" sz="2700" b="1" dirty="0" smtClean="0"/>
            </a:br>
            <a:r>
              <a:rPr lang="en-GB" dirty="0"/>
              <a:t/>
            </a:r>
            <a:br>
              <a:rPr lang="en-GB" dirty="0"/>
            </a:br>
            <a:r>
              <a:rPr lang="en-GB" dirty="0" smtClean="0"/>
              <a:t/>
            </a:r>
            <a:br>
              <a:rPr lang="en-GB" dirty="0" smtClean="0"/>
            </a:br>
            <a:r>
              <a:rPr lang="en-GB" dirty="0"/>
              <a:t/>
            </a:r>
            <a:br>
              <a:rPr lang="en-GB" dirty="0"/>
            </a:br>
            <a:r>
              <a:rPr lang="en-GB" dirty="0" smtClean="0"/>
              <a:t/>
            </a:r>
            <a:br>
              <a:rPr lang="en-GB" dirty="0" smtClean="0"/>
            </a:br>
            <a:r>
              <a:rPr lang="en-GB" dirty="0"/>
              <a:t/>
            </a:r>
            <a:br>
              <a:rPr lang="en-GB" dirty="0"/>
            </a:br>
            <a:r>
              <a:rPr lang="en-GB" dirty="0" smtClean="0"/>
              <a:t/>
            </a:r>
            <a:br>
              <a:rPr lang="en-GB" dirty="0" smtClean="0"/>
            </a:br>
            <a:r>
              <a:rPr lang="en-GB" dirty="0" smtClean="0"/>
              <a:t/>
            </a:r>
            <a:br>
              <a:rPr lang="en-GB" dirty="0" smtClean="0"/>
            </a:br>
            <a:endParaRPr lang="en-GB" dirty="0"/>
          </a:p>
        </p:txBody>
      </p:sp>
      <p:sp>
        <p:nvSpPr>
          <p:cNvPr id="3" name="Subtitle 2"/>
          <p:cNvSpPr>
            <a:spLocks noGrp="1"/>
          </p:cNvSpPr>
          <p:nvPr>
            <p:ph type="subTitle" idx="1"/>
          </p:nvPr>
        </p:nvSpPr>
        <p:spPr>
          <a:xfrm flipH="1">
            <a:off x="10072726" y="3886200"/>
            <a:ext cx="1428760" cy="1752600"/>
          </a:xfrm>
        </p:spPr>
        <p:txBody>
          <a:bodyPr/>
          <a:lstStyle/>
          <a:p>
            <a:endParaRPr lang="en-GB" dirty="0"/>
          </a:p>
        </p:txBody>
      </p:sp>
      <p:pic>
        <p:nvPicPr>
          <p:cNvPr id="2050" name="Picture 2" descr="C:\Users\lifebook\Downloads\N CARD BY.jpg"/>
          <p:cNvPicPr>
            <a:picLocks noChangeAspect="1" noChangeArrowheads="1"/>
          </p:cNvPicPr>
          <p:nvPr/>
        </p:nvPicPr>
        <p:blipFill>
          <a:blip r:embed="rId2"/>
          <a:srcRect/>
          <a:stretch>
            <a:fillRect/>
          </a:stretch>
        </p:blipFill>
        <p:spPr bwMode="auto">
          <a:xfrm>
            <a:off x="3000364" y="1928802"/>
            <a:ext cx="2714644" cy="2643206"/>
          </a:xfrm>
          <a:prstGeom prst="rect">
            <a:avLst/>
          </a:prstGeom>
          <a:noFill/>
        </p:spPr>
      </p:pic>
      <p:sp>
        <p:nvSpPr>
          <p:cNvPr id="5" name="Down Arrow 4"/>
          <p:cNvSpPr/>
          <p:nvPr/>
        </p:nvSpPr>
        <p:spPr>
          <a:xfrm rot="5400000">
            <a:off x="5822165" y="2250273"/>
            <a:ext cx="1571636" cy="1785950"/>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WIND</a:t>
            </a:r>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501122" cy="6215106"/>
          </a:xfrm>
        </p:spPr>
        <p:txBody>
          <a:bodyPr>
            <a:normAutofit/>
          </a:bodyPr>
          <a:lstStyle/>
          <a:p>
            <a:pPr algn="l"/>
            <a:r>
              <a:rPr lang="en-GB" sz="2400" b="1" dirty="0" smtClean="0"/>
              <a:t>                                                    Question 9</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
            </a:r>
            <a:br>
              <a:rPr lang="en-GB" sz="2400" b="1" dirty="0" smtClean="0"/>
            </a:br>
            <a:r>
              <a:rPr lang="en-GB" sz="2400" b="1" dirty="0" smtClean="0"/>
              <a:t>Which statement in respect of this buoy is FALSE?</a:t>
            </a:r>
            <a:br>
              <a:rPr lang="en-GB" sz="2400" b="1" dirty="0" smtClean="0"/>
            </a:br>
            <a:r>
              <a:rPr lang="en-GB" sz="2400" b="1" dirty="0" smtClean="0"/>
              <a:t/>
            </a:r>
            <a:br>
              <a:rPr lang="en-GB" sz="2400" b="1" dirty="0" smtClean="0"/>
            </a:br>
            <a:r>
              <a:rPr lang="en-GB" sz="2400" b="1" dirty="0" smtClean="0"/>
              <a:t>A    </a:t>
            </a:r>
            <a:r>
              <a:rPr lang="en-GB" sz="2400" dirty="0" smtClean="0"/>
              <a:t>It cannot be seen on high seas</a:t>
            </a:r>
            <a:r>
              <a:rPr lang="en-GB" sz="2400" b="1" dirty="0" smtClean="0"/>
              <a:t/>
            </a:r>
            <a:br>
              <a:rPr lang="en-GB" sz="2400" b="1" dirty="0" smtClean="0"/>
            </a:br>
            <a:r>
              <a:rPr lang="en-GB" sz="2400" b="1" dirty="0" smtClean="0"/>
              <a:t>B    </a:t>
            </a:r>
            <a:r>
              <a:rPr lang="en-GB" sz="2400" dirty="0" smtClean="0"/>
              <a:t>It has a top mark which is painted black</a:t>
            </a:r>
            <a:r>
              <a:rPr lang="en-GB" sz="2400" b="1" dirty="0" smtClean="0"/>
              <a:t/>
            </a:r>
            <a:br>
              <a:rPr lang="en-GB" sz="2400" b="1" dirty="0" smtClean="0"/>
            </a:br>
            <a:r>
              <a:rPr lang="en-GB" sz="2400" b="1" dirty="0" smtClean="0"/>
              <a:t>C    </a:t>
            </a:r>
            <a:r>
              <a:rPr lang="en-GB" sz="2400" dirty="0" smtClean="0"/>
              <a:t>It is one of the two lateral buoys</a:t>
            </a:r>
            <a:r>
              <a:rPr lang="en-GB" sz="2400" b="1" dirty="0" smtClean="0"/>
              <a:t/>
            </a:r>
            <a:br>
              <a:rPr lang="en-GB" sz="2400" b="1" dirty="0" smtClean="0"/>
            </a:br>
            <a:r>
              <a:rPr lang="en-GB" sz="2400" b="1" dirty="0" smtClean="0"/>
              <a:t>D    </a:t>
            </a:r>
            <a:r>
              <a:rPr lang="en-GB" sz="2400" dirty="0" smtClean="0"/>
              <a:t>It is to be left on your port side when proceeding  to high seas from a harbour</a:t>
            </a:r>
            <a:r>
              <a:rPr lang="en-GB" dirty="0" smtClean="0"/>
              <a:t/>
            </a:r>
            <a:br>
              <a:rPr lang="en-GB" dirty="0" smtClean="0"/>
            </a:br>
            <a:endParaRPr lang="en-GB" dirty="0"/>
          </a:p>
        </p:txBody>
      </p:sp>
      <p:sp>
        <p:nvSpPr>
          <p:cNvPr id="3" name="Subtitle 2"/>
          <p:cNvSpPr>
            <a:spLocks noGrp="1"/>
          </p:cNvSpPr>
          <p:nvPr>
            <p:ph type="subTitle" idx="1"/>
          </p:nvPr>
        </p:nvSpPr>
        <p:spPr>
          <a:xfrm flipH="1">
            <a:off x="9644098" y="3886200"/>
            <a:ext cx="1000132" cy="1752600"/>
          </a:xfrm>
        </p:spPr>
        <p:txBody>
          <a:bodyPr/>
          <a:lstStyle/>
          <a:p>
            <a:endParaRPr lang="en-GB" dirty="0"/>
          </a:p>
        </p:txBody>
      </p:sp>
      <p:pic>
        <p:nvPicPr>
          <p:cNvPr id="5" name="Picture 2" descr="H:\stbd handbuoy.jpg"/>
          <p:cNvPicPr>
            <a:picLocks noChangeAspect="1" noChangeArrowheads="1"/>
          </p:cNvPicPr>
          <p:nvPr/>
        </p:nvPicPr>
        <p:blipFill>
          <a:blip r:embed="rId2"/>
          <a:srcRect/>
          <a:stretch>
            <a:fillRect/>
          </a:stretch>
        </p:blipFill>
        <p:spPr bwMode="auto">
          <a:xfrm>
            <a:off x="3714744" y="1071546"/>
            <a:ext cx="2071702" cy="1928826"/>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358246" cy="6286543"/>
          </a:xfrm>
        </p:spPr>
        <p:txBody>
          <a:bodyPr>
            <a:normAutofit/>
          </a:bodyPr>
          <a:lstStyle/>
          <a:p>
            <a:pPr algn="l"/>
            <a:r>
              <a:rPr lang="en-GB" sz="2400" b="1" dirty="0" smtClean="0"/>
              <a:t>                                                 Question 10</a:t>
            </a:r>
            <a:br>
              <a:rPr lang="en-GB" sz="2400" b="1" dirty="0" smtClean="0"/>
            </a:br>
            <a:r>
              <a:rPr lang="en-GB" sz="2400" b="1" dirty="0" smtClean="0"/>
              <a:t/>
            </a:r>
            <a:br>
              <a:rPr lang="en-GB" sz="2400" b="1" dirty="0" smtClean="0"/>
            </a:br>
            <a:r>
              <a:rPr lang="en-GB" sz="2400" b="1" dirty="0" smtClean="0"/>
              <a:t> Spring tides are characterised by</a:t>
            </a:r>
            <a:br>
              <a:rPr lang="en-GB" sz="2400" b="1" dirty="0" smtClean="0"/>
            </a:br>
            <a:r>
              <a:rPr lang="en-GB" sz="2400" b="1" dirty="0" smtClean="0"/>
              <a:t/>
            </a:r>
            <a:br>
              <a:rPr lang="en-GB" sz="2400" b="1" dirty="0" smtClean="0"/>
            </a:br>
            <a:r>
              <a:rPr lang="en-GB" sz="2400" b="1" dirty="0" smtClean="0"/>
              <a:t>A    </a:t>
            </a:r>
            <a:r>
              <a:rPr lang="en-GB" sz="2400" dirty="0" smtClean="0"/>
              <a:t>only one HIGH WATER in 24 hours</a:t>
            </a:r>
            <a:br>
              <a:rPr lang="en-GB" sz="2400" dirty="0" smtClean="0"/>
            </a:br>
            <a:r>
              <a:rPr lang="en-GB" sz="2400" b="1" dirty="0" smtClean="0"/>
              <a:t/>
            </a:r>
            <a:br>
              <a:rPr lang="en-GB" sz="2400" b="1" dirty="0" smtClean="0"/>
            </a:br>
            <a:r>
              <a:rPr lang="en-GB" sz="2400" b="1" dirty="0" smtClean="0"/>
              <a:t>B    </a:t>
            </a:r>
            <a:r>
              <a:rPr lang="en-GB" sz="2400" dirty="0" smtClean="0"/>
              <a:t>higher LOW WATERS and lower HIGH WATERS</a:t>
            </a:r>
            <a:r>
              <a:rPr lang="en-GB" sz="2400" b="1" dirty="0" smtClean="0"/>
              <a:t>  </a:t>
            </a:r>
            <a:br>
              <a:rPr lang="en-GB" sz="2400" b="1" dirty="0" smtClean="0"/>
            </a:br>
            <a:r>
              <a:rPr lang="en-GB" sz="2400" b="1" dirty="0" smtClean="0"/>
              <a:t/>
            </a:r>
            <a:br>
              <a:rPr lang="en-GB" sz="2400" b="1" dirty="0" smtClean="0"/>
            </a:br>
            <a:r>
              <a:rPr lang="en-GB" sz="2400" b="1" dirty="0" smtClean="0"/>
              <a:t>C    </a:t>
            </a:r>
            <a:r>
              <a:rPr lang="en-GB" sz="2400" dirty="0" smtClean="0"/>
              <a:t>higher HIGH WATERS and lower LOW WATERS</a:t>
            </a:r>
            <a:br>
              <a:rPr lang="en-GB" sz="2400" dirty="0" smtClean="0"/>
            </a:br>
            <a:r>
              <a:rPr lang="en-GB" sz="2400" b="1" dirty="0" smtClean="0"/>
              <a:t/>
            </a:r>
            <a:br>
              <a:rPr lang="en-GB" sz="2400" b="1" dirty="0" smtClean="0"/>
            </a:br>
            <a:r>
              <a:rPr lang="en-GB" sz="2400" b="1" dirty="0" smtClean="0"/>
              <a:t>D    </a:t>
            </a:r>
            <a:r>
              <a:rPr lang="en-GB" sz="2400" dirty="0" smtClean="0"/>
              <a:t>weak tidal currents in and out of passes</a:t>
            </a:r>
            <a:endParaRPr lang="en-GB" sz="2400" b="1" dirty="0"/>
          </a:p>
        </p:txBody>
      </p:sp>
      <p:sp>
        <p:nvSpPr>
          <p:cNvPr id="3" name="Subtitle 2"/>
          <p:cNvSpPr>
            <a:spLocks noGrp="1"/>
          </p:cNvSpPr>
          <p:nvPr>
            <p:ph type="subTitle" idx="1"/>
          </p:nvPr>
        </p:nvSpPr>
        <p:spPr>
          <a:xfrm flipH="1">
            <a:off x="10072726" y="3886200"/>
            <a:ext cx="1000132" cy="1752600"/>
          </a:xfrm>
        </p:spPr>
        <p:txBody>
          <a:bodyPr/>
          <a:lstStyle/>
          <a:p>
            <a:endParaRPr lang="en-GB"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a:bodyPr>
          <a:lstStyle/>
          <a:p>
            <a:pPr algn="l"/>
            <a:r>
              <a:rPr lang="en-GB" sz="2400" b="1" dirty="0" smtClean="0"/>
              <a:t>                                                Question 11</a:t>
            </a:r>
            <a:br>
              <a:rPr lang="en-GB" sz="2400" b="1" dirty="0" smtClean="0"/>
            </a:br>
            <a:r>
              <a:rPr lang="en-GB" sz="2400" b="1" dirty="0" smtClean="0"/>
              <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This sailor is assisting in the safe navigation of the ship by </a:t>
            </a:r>
            <a:br>
              <a:rPr lang="en-GB" sz="2400" b="1" dirty="0" smtClean="0"/>
            </a:br>
            <a:r>
              <a:rPr lang="en-GB" sz="2400" b="1" dirty="0" smtClean="0"/>
              <a:t/>
            </a:r>
            <a:br>
              <a:rPr lang="en-GB" sz="2400" b="1" dirty="0" smtClean="0"/>
            </a:br>
            <a:r>
              <a:rPr lang="en-GB" sz="2400" b="1" dirty="0" smtClean="0"/>
              <a:t>A    </a:t>
            </a:r>
            <a:r>
              <a:rPr lang="en-GB" sz="2400" dirty="0" smtClean="0"/>
              <a:t>ensuring that the ship is following the correct course</a:t>
            </a:r>
            <a:r>
              <a:rPr lang="en-GB" sz="2400" b="1" dirty="0" smtClean="0"/>
              <a:t/>
            </a:r>
            <a:br>
              <a:rPr lang="en-GB" sz="2400" b="1" dirty="0" smtClean="0"/>
            </a:br>
            <a:r>
              <a:rPr lang="en-GB" sz="2400" b="1" dirty="0" smtClean="0"/>
              <a:t>B   </a:t>
            </a:r>
            <a:r>
              <a:rPr lang="en-GB" sz="2400" dirty="0" smtClean="0"/>
              <a:t> advising the Deck Watch Officer as to when to alter course to prevent a collision</a:t>
            </a:r>
            <a:r>
              <a:rPr lang="en-GB" sz="2400" b="1" dirty="0" smtClean="0"/>
              <a:t/>
            </a:r>
            <a:br>
              <a:rPr lang="en-GB" sz="2400" b="1" dirty="0" smtClean="0"/>
            </a:br>
            <a:r>
              <a:rPr lang="en-GB" sz="2400" b="1" dirty="0" smtClean="0"/>
              <a:t>C    </a:t>
            </a:r>
            <a:r>
              <a:rPr lang="en-GB" sz="2400" dirty="0" smtClean="0"/>
              <a:t>reporting presence of other ships or dangers so that </a:t>
            </a:r>
            <a:r>
              <a:rPr lang="en-GB" sz="2400" b="1" dirty="0" smtClean="0"/>
              <a:t> </a:t>
            </a:r>
            <a:r>
              <a:rPr lang="en-GB" sz="2400" dirty="0" smtClean="0"/>
              <a:t>the Deck Watch Officer can assess if there is risk of collision</a:t>
            </a:r>
            <a:r>
              <a:rPr lang="en-GB" sz="2400" b="1" dirty="0" smtClean="0"/>
              <a:t/>
            </a:r>
            <a:br>
              <a:rPr lang="en-GB" sz="2400" b="1" dirty="0" smtClean="0"/>
            </a:br>
            <a:r>
              <a:rPr lang="en-GB" sz="2400" b="1" dirty="0" smtClean="0"/>
              <a:t>D    </a:t>
            </a:r>
            <a:r>
              <a:rPr lang="en-GB" sz="2400" dirty="0" smtClean="0"/>
              <a:t>reporting  changes in the weather conditions</a:t>
            </a:r>
            <a:r>
              <a:rPr lang="en-GB" sz="2400" b="1" dirty="0" smtClean="0"/>
              <a:t>   </a:t>
            </a:r>
            <a:endParaRPr lang="en-GB" sz="2400" b="1" dirty="0"/>
          </a:p>
        </p:txBody>
      </p:sp>
      <p:sp>
        <p:nvSpPr>
          <p:cNvPr id="3" name="Subtitle 2"/>
          <p:cNvSpPr>
            <a:spLocks noGrp="1"/>
          </p:cNvSpPr>
          <p:nvPr>
            <p:ph type="subTitle" idx="1"/>
          </p:nvPr>
        </p:nvSpPr>
        <p:spPr>
          <a:xfrm flipH="1">
            <a:off x="9858412" y="3886200"/>
            <a:ext cx="1000132" cy="1752600"/>
          </a:xfrm>
        </p:spPr>
        <p:txBody>
          <a:bodyPr/>
          <a:lstStyle/>
          <a:p>
            <a:endParaRPr lang="en-GB" dirty="0"/>
          </a:p>
        </p:txBody>
      </p:sp>
      <p:pic>
        <p:nvPicPr>
          <p:cNvPr id="5122" name="Picture 2" descr="C:\Users\lifebook\Downloads\lookout.jpg"/>
          <p:cNvPicPr>
            <a:picLocks noChangeAspect="1" noChangeArrowheads="1"/>
          </p:cNvPicPr>
          <p:nvPr/>
        </p:nvPicPr>
        <p:blipFill>
          <a:blip r:embed="rId2" cstate="print"/>
          <a:srcRect/>
          <a:stretch>
            <a:fillRect/>
          </a:stretch>
        </p:blipFill>
        <p:spPr bwMode="auto">
          <a:xfrm>
            <a:off x="2786050" y="1000108"/>
            <a:ext cx="3243072" cy="2157984"/>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8596" y="214290"/>
            <a:ext cx="8029604" cy="6429420"/>
          </a:xfrm>
        </p:spPr>
        <p:txBody>
          <a:bodyPr>
            <a:normAutofit fontScale="90000"/>
          </a:bodyPr>
          <a:lstStyle/>
          <a:p>
            <a:pPr algn="l"/>
            <a:r>
              <a:rPr lang="en-GB" dirty="0" smtClean="0"/>
              <a:t/>
            </a:r>
            <a:br>
              <a:rPr lang="en-GB" dirty="0" smtClean="0"/>
            </a:br>
            <a:r>
              <a:rPr lang="en-GB" dirty="0" smtClean="0"/>
              <a:t/>
            </a:r>
            <a:br>
              <a:rPr lang="en-GB" dirty="0" smtClean="0"/>
            </a:br>
            <a:r>
              <a:rPr lang="en-GB" dirty="0"/>
              <a:t/>
            </a:r>
            <a:br>
              <a:rPr lang="en-GB" dirty="0"/>
            </a:br>
            <a:r>
              <a:rPr lang="en-GB" dirty="0" smtClean="0"/>
              <a:t/>
            </a:r>
            <a:br>
              <a:rPr lang="en-GB" dirty="0" smtClean="0"/>
            </a:br>
            <a:r>
              <a:rPr lang="en-GB" dirty="0" smtClean="0"/>
              <a:t> </a:t>
            </a:r>
            <a:br>
              <a:rPr lang="en-GB" dirty="0" smtClean="0"/>
            </a:br>
            <a:r>
              <a:rPr lang="en-GB" dirty="0" smtClean="0"/>
              <a:t>                              </a:t>
            </a:r>
            <a:r>
              <a:rPr lang="en-GB" sz="2600" b="1" dirty="0" smtClean="0"/>
              <a:t>Question 12</a:t>
            </a:r>
            <a:r>
              <a:rPr lang="en-GB" sz="2600" dirty="0" smtClean="0"/>
              <a:t/>
            </a:r>
            <a:br>
              <a:rPr lang="en-GB" sz="2600" dirty="0" smtClean="0"/>
            </a:br>
            <a:r>
              <a:rPr lang="en-GB" sz="2600" b="1" dirty="0" smtClean="0"/>
              <a:t>Based on the above scenario, it can be deduced at 0812 h that</a:t>
            </a:r>
            <a:br>
              <a:rPr lang="en-GB" sz="2600" b="1" dirty="0" smtClean="0"/>
            </a:br>
            <a:r>
              <a:rPr lang="en-GB" sz="2600" b="1" dirty="0" smtClean="0"/>
              <a:t>A  </a:t>
            </a:r>
            <a:r>
              <a:rPr lang="en-GB" sz="2600" dirty="0" smtClean="0"/>
              <a:t> vessel B will pass ahead  of vessel A without any risk of collision</a:t>
            </a:r>
            <a:r>
              <a:rPr lang="en-GB" sz="2600" b="1" dirty="0" smtClean="0"/>
              <a:t>   </a:t>
            </a:r>
            <a:br>
              <a:rPr lang="en-GB" sz="2600" b="1" dirty="0" smtClean="0"/>
            </a:br>
            <a:r>
              <a:rPr lang="en-GB" sz="2600" b="1" dirty="0" smtClean="0"/>
              <a:t>B  </a:t>
            </a:r>
            <a:r>
              <a:rPr lang="en-GB" sz="2600" dirty="0" smtClean="0"/>
              <a:t> vessel B needs to sound two short blasts and alter course to port to pass astern of vessel A</a:t>
            </a:r>
            <a:r>
              <a:rPr lang="en-GB" sz="2600" b="1" dirty="0" smtClean="0"/>
              <a:t/>
            </a:r>
            <a:br>
              <a:rPr lang="en-GB" sz="2600" b="1" dirty="0" smtClean="0"/>
            </a:br>
            <a:r>
              <a:rPr lang="en-GB" sz="2600" b="1" dirty="0" smtClean="0"/>
              <a:t>C   </a:t>
            </a:r>
            <a:r>
              <a:rPr lang="en-GB" sz="2600" dirty="0" smtClean="0"/>
              <a:t>there is high risk of collision </a:t>
            </a:r>
            <a:r>
              <a:rPr lang="en-GB" sz="2600" b="1" dirty="0" smtClean="0"/>
              <a:t/>
            </a:r>
            <a:br>
              <a:rPr lang="en-GB" sz="2600" b="1" dirty="0" smtClean="0"/>
            </a:br>
            <a:r>
              <a:rPr lang="en-GB" sz="2600" b="1" dirty="0" smtClean="0"/>
              <a:t>D   </a:t>
            </a:r>
            <a:r>
              <a:rPr lang="en-GB" sz="2600" dirty="0" smtClean="0"/>
              <a:t>vessel A can maintain her course and speed </a:t>
            </a:r>
            <a:endParaRPr lang="en-GB" sz="2600" b="1" dirty="0"/>
          </a:p>
        </p:txBody>
      </p:sp>
      <p:sp>
        <p:nvSpPr>
          <p:cNvPr id="3" name="Subtitle 2"/>
          <p:cNvSpPr>
            <a:spLocks noGrp="1"/>
          </p:cNvSpPr>
          <p:nvPr>
            <p:ph type="subTitle" idx="1"/>
          </p:nvPr>
        </p:nvSpPr>
        <p:spPr>
          <a:xfrm flipH="1">
            <a:off x="10001288" y="3886200"/>
            <a:ext cx="785818" cy="1752600"/>
          </a:xfrm>
        </p:spPr>
        <p:txBody>
          <a:bodyPr/>
          <a:lstStyle/>
          <a:p>
            <a:endParaRPr lang="en-GB" dirty="0"/>
          </a:p>
        </p:txBody>
      </p:sp>
      <p:pic>
        <p:nvPicPr>
          <p:cNvPr id="6146" name="Picture 2" descr="C:\Users\lifebook\Downloads\Rule 7 Blog.jpg"/>
          <p:cNvPicPr>
            <a:picLocks noChangeAspect="1" noChangeArrowheads="1"/>
          </p:cNvPicPr>
          <p:nvPr/>
        </p:nvPicPr>
        <p:blipFill>
          <a:blip r:embed="rId2"/>
          <a:srcRect/>
          <a:stretch>
            <a:fillRect/>
          </a:stretch>
        </p:blipFill>
        <p:spPr bwMode="auto">
          <a:xfrm>
            <a:off x="857224" y="714356"/>
            <a:ext cx="7562850" cy="2819400"/>
          </a:xfrm>
          <a:prstGeom prst="rect">
            <a:avLst/>
          </a:prstGeom>
          <a:noFill/>
        </p:spPr>
      </p:pic>
      <p:sp>
        <p:nvSpPr>
          <p:cNvPr id="5" name="TextBox 4"/>
          <p:cNvSpPr txBox="1"/>
          <p:nvPr/>
        </p:nvSpPr>
        <p:spPr>
          <a:xfrm>
            <a:off x="2857488" y="928670"/>
            <a:ext cx="314510" cy="369332"/>
          </a:xfrm>
          <a:prstGeom prst="rect">
            <a:avLst/>
          </a:prstGeom>
          <a:noFill/>
        </p:spPr>
        <p:txBody>
          <a:bodyPr wrap="none" rtlCol="0">
            <a:spAutoFit/>
          </a:bodyPr>
          <a:lstStyle/>
          <a:p>
            <a:r>
              <a:rPr lang="en-GB" b="1" dirty="0" smtClean="0"/>
              <a:t>B</a:t>
            </a:r>
            <a:endParaRPr lang="en-GB" b="1" dirty="0"/>
          </a:p>
        </p:txBody>
      </p:sp>
      <p:sp>
        <p:nvSpPr>
          <p:cNvPr id="7" name="TextBox 6"/>
          <p:cNvSpPr txBox="1"/>
          <p:nvPr/>
        </p:nvSpPr>
        <p:spPr>
          <a:xfrm>
            <a:off x="2500298" y="2357430"/>
            <a:ext cx="324128" cy="369332"/>
          </a:xfrm>
          <a:prstGeom prst="rect">
            <a:avLst/>
          </a:prstGeom>
          <a:noFill/>
        </p:spPr>
        <p:txBody>
          <a:bodyPr wrap="none" rtlCol="0">
            <a:spAutoFit/>
          </a:bodyPr>
          <a:lstStyle/>
          <a:p>
            <a:r>
              <a:rPr lang="en-GB" b="1" dirty="0"/>
              <a:t>A</a:t>
            </a:r>
          </a:p>
        </p:txBody>
      </p:sp>
      <p:sp>
        <p:nvSpPr>
          <p:cNvPr id="8" name="Rectangle 7"/>
          <p:cNvSpPr/>
          <p:nvPr/>
        </p:nvSpPr>
        <p:spPr>
          <a:xfrm>
            <a:off x="5000628" y="2357430"/>
            <a:ext cx="714380" cy="369332"/>
          </a:xfrm>
          <a:prstGeom prst="rect">
            <a:avLst/>
          </a:prstGeom>
        </p:spPr>
        <p:txBody>
          <a:bodyPr wrap="square">
            <a:spAutoFit/>
          </a:bodyPr>
          <a:lstStyle/>
          <a:p>
            <a:r>
              <a:rPr lang="en-GB" b="1" dirty="0" smtClean="0"/>
              <a:t>A</a:t>
            </a:r>
            <a:endParaRPr lang="en-GB" b="1" dirty="0"/>
          </a:p>
        </p:txBody>
      </p:sp>
      <p:sp>
        <p:nvSpPr>
          <p:cNvPr id="9" name="TextBox 8"/>
          <p:cNvSpPr txBox="1"/>
          <p:nvPr/>
        </p:nvSpPr>
        <p:spPr>
          <a:xfrm>
            <a:off x="5214942" y="857232"/>
            <a:ext cx="357190" cy="369332"/>
          </a:xfrm>
          <a:prstGeom prst="rect">
            <a:avLst/>
          </a:prstGeom>
          <a:noFill/>
        </p:spPr>
        <p:txBody>
          <a:bodyPr wrap="square" rtlCol="0">
            <a:spAutoFit/>
          </a:bodyPr>
          <a:lstStyle/>
          <a:p>
            <a:r>
              <a:rPr lang="en-GB" b="1" dirty="0" smtClean="0"/>
              <a:t>B</a:t>
            </a:r>
            <a:endParaRPr lang="en-GB" b="1" dirty="0"/>
          </a:p>
        </p:txBody>
      </p:sp>
      <p:sp>
        <p:nvSpPr>
          <p:cNvPr id="10" name="TextBox 9"/>
          <p:cNvSpPr txBox="1"/>
          <p:nvPr/>
        </p:nvSpPr>
        <p:spPr>
          <a:xfrm>
            <a:off x="6357950" y="3357562"/>
            <a:ext cx="1500198" cy="276999"/>
          </a:xfrm>
          <a:prstGeom prst="rect">
            <a:avLst/>
          </a:prstGeom>
          <a:noFill/>
        </p:spPr>
        <p:txBody>
          <a:bodyPr wrap="square" rtlCol="0">
            <a:spAutoFit/>
          </a:bodyPr>
          <a:lstStyle/>
          <a:p>
            <a:r>
              <a:rPr lang="en-GB" sz="1200" dirty="0" smtClean="0"/>
              <a:t>Range 2.0 miles</a:t>
            </a:r>
            <a:endParaRPr lang="en-GB" sz="1200" dirty="0"/>
          </a:p>
        </p:txBody>
      </p:sp>
      <p:sp>
        <p:nvSpPr>
          <p:cNvPr id="11" name="Rectangle 10"/>
          <p:cNvSpPr/>
          <p:nvPr/>
        </p:nvSpPr>
        <p:spPr>
          <a:xfrm>
            <a:off x="3857620" y="3357562"/>
            <a:ext cx="1143008" cy="261610"/>
          </a:xfrm>
          <a:prstGeom prst="rect">
            <a:avLst/>
          </a:prstGeom>
        </p:spPr>
        <p:txBody>
          <a:bodyPr wrap="square">
            <a:spAutoFit/>
          </a:bodyPr>
          <a:lstStyle/>
          <a:p>
            <a:r>
              <a:rPr lang="en-GB" sz="1100" dirty="0" smtClean="0"/>
              <a:t>Range 2.5 miles</a:t>
            </a:r>
            <a:endParaRPr lang="en-GB" sz="1100" dirty="0"/>
          </a:p>
        </p:txBody>
      </p:sp>
      <p:sp>
        <p:nvSpPr>
          <p:cNvPr id="12" name="Rectangle 11"/>
          <p:cNvSpPr/>
          <p:nvPr/>
        </p:nvSpPr>
        <p:spPr>
          <a:xfrm>
            <a:off x="7358082" y="2357430"/>
            <a:ext cx="642942" cy="369332"/>
          </a:xfrm>
          <a:prstGeom prst="rect">
            <a:avLst/>
          </a:prstGeom>
        </p:spPr>
        <p:txBody>
          <a:bodyPr wrap="square">
            <a:spAutoFit/>
          </a:bodyPr>
          <a:lstStyle/>
          <a:p>
            <a:r>
              <a:rPr lang="en-GB" b="1" dirty="0" smtClean="0"/>
              <a:t>A</a:t>
            </a:r>
            <a:endParaRPr lang="en-GB" b="1" dirty="0"/>
          </a:p>
        </p:txBody>
      </p:sp>
      <p:sp>
        <p:nvSpPr>
          <p:cNvPr id="13" name="Rectangle 12"/>
          <p:cNvSpPr/>
          <p:nvPr/>
        </p:nvSpPr>
        <p:spPr>
          <a:xfrm>
            <a:off x="7786710" y="857232"/>
            <a:ext cx="1071570" cy="369332"/>
          </a:xfrm>
          <a:prstGeom prst="rect">
            <a:avLst/>
          </a:prstGeom>
        </p:spPr>
        <p:txBody>
          <a:bodyPr wrap="square">
            <a:spAutoFit/>
          </a:bodyPr>
          <a:lstStyle/>
          <a:p>
            <a:r>
              <a:rPr lang="en-GB" b="1" dirty="0" smtClean="0"/>
              <a:t>B</a:t>
            </a:r>
            <a:endParaRPr lang="en-GB"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285728"/>
            <a:ext cx="8501122" cy="6286543"/>
          </a:xfrm>
        </p:spPr>
        <p:txBody>
          <a:bodyPr>
            <a:normAutofit fontScale="90000"/>
          </a:bodyPr>
          <a:lstStyle/>
          <a:p>
            <a:pPr algn="l"/>
            <a:r>
              <a:rPr lang="en-GB" sz="2400" b="1" dirty="0" smtClean="0"/>
              <a:t>                                                 </a:t>
            </a:r>
            <a:r>
              <a:rPr lang="en-GB" sz="2700" b="1" dirty="0" smtClean="0"/>
              <a:t>Question 13</a:t>
            </a: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smtClean="0"/>
              <a:t/>
            </a:r>
            <a:br>
              <a:rPr lang="en-GB" sz="2700" b="1" dirty="0" smtClean="0"/>
            </a:br>
            <a:r>
              <a:rPr lang="en-GB" sz="2700" b="1" dirty="0" smtClean="0"/>
              <a:t>This power-driven vessel is 5 degrees off your starboard bow and is maintaining her course and speed. There is risk of collision. What is the best action to be taken to avoid the collision?</a:t>
            </a:r>
            <a:br>
              <a:rPr lang="en-GB" sz="2700" b="1" dirty="0" smtClean="0"/>
            </a:br>
            <a:r>
              <a:rPr lang="en-GB" sz="2700" b="1" dirty="0" smtClean="0"/>
              <a:t/>
            </a:r>
            <a:br>
              <a:rPr lang="en-GB" sz="2700" b="1" dirty="0" smtClean="0"/>
            </a:br>
            <a:r>
              <a:rPr lang="en-GB" sz="2700" b="1" dirty="0" smtClean="0"/>
              <a:t>A </a:t>
            </a:r>
            <a:r>
              <a:rPr lang="en-GB" sz="2700" dirty="0" smtClean="0"/>
              <a:t> sound one short blast and alter course to starboard by at least 60 degrees</a:t>
            </a:r>
            <a:r>
              <a:rPr lang="en-GB" sz="2700" b="1" dirty="0" smtClean="0"/>
              <a:t/>
            </a:r>
            <a:br>
              <a:rPr lang="en-GB" sz="2700" b="1" dirty="0" smtClean="0"/>
            </a:br>
            <a:r>
              <a:rPr lang="en-GB" sz="2700" b="1" dirty="0" smtClean="0"/>
              <a:t>B  </a:t>
            </a:r>
            <a:r>
              <a:rPr lang="en-GB" sz="2700" dirty="0" smtClean="0"/>
              <a:t>sound two short blasts and alter course to port by at least 60 degrees</a:t>
            </a:r>
            <a:r>
              <a:rPr lang="en-GB" sz="2700" b="1" dirty="0" smtClean="0"/>
              <a:t/>
            </a:r>
            <a:br>
              <a:rPr lang="en-GB" sz="2700" b="1" dirty="0" smtClean="0"/>
            </a:br>
            <a:r>
              <a:rPr lang="en-GB" sz="2700" b="1" dirty="0" smtClean="0"/>
              <a:t>C   </a:t>
            </a:r>
            <a:r>
              <a:rPr lang="en-GB" sz="2700" dirty="0" smtClean="0"/>
              <a:t>sound three short blasts and engage astern propulsion</a:t>
            </a:r>
            <a:r>
              <a:rPr lang="en-GB" sz="2700" b="1" dirty="0" smtClean="0"/>
              <a:t/>
            </a:r>
            <a:br>
              <a:rPr lang="en-GB" sz="2700" b="1" dirty="0" smtClean="0"/>
            </a:br>
            <a:r>
              <a:rPr lang="en-GB" sz="2700" b="1" dirty="0"/>
              <a:t>D</a:t>
            </a:r>
            <a:r>
              <a:rPr lang="en-GB" sz="2700" b="1" dirty="0" smtClean="0"/>
              <a:t>   </a:t>
            </a:r>
            <a:r>
              <a:rPr lang="en-GB" sz="2700" dirty="0" smtClean="0"/>
              <a:t>sound at least five short and rapid blasts and let go the anchor</a:t>
            </a:r>
            <a:r>
              <a:rPr lang="en-GB" sz="2700" b="1" dirty="0" smtClean="0"/>
              <a:t/>
            </a:r>
            <a:br>
              <a:rPr lang="en-GB" sz="2700" b="1" dirty="0" smtClean="0"/>
            </a:br>
            <a:endParaRPr lang="en-GB" sz="2700" b="1" dirty="0"/>
          </a:p>
        </p:txBody>
      </p:sp>
      <p:sp>
        <p:nvSpPr>
          <p:cNvPr id="3" name="Subtitle 2"/>
          <p:cNvSpPr>
            <a:spLocks noGrp="1"/>
          </p:cNvSpPr>
          <p:nvPr>
            <p:ph type="subTitle" idx="1"/>
          </p:nvPr>
        </p:nvSpPr>
        <p:spPr>
          <a:xfrm flipH="1">
            <a:off x="10215602" y="3886200"/>
            <a:ext cx="642942" cy="1752600"/>
          </a:xfrm>
        </p:spPr>
        <p:txBody>
          <a:bodyPr/>
          <a:lstStyle/>
          <a:p>
            <a:endParaRPr lang="en-GB" dirty="0"/>
          </a:p>
        </p:txBody>
      </p:sp>
      <p:pic>
        <p:nvPicPr>
          <p:cNvPr id="7170" name="Picture 2" descr="C:\Users\lifebook\Downloads\off stbd bow.png"/>
          <p:cNvPicPr>
            <a:picLocks noChangeAspect="1" noChangeArrowheads="1"/>
          </p:cNvPicPr>
          <p:nvPr/>
        </p:nvPicPr>
        <p:blipFill>
          <a:blip r:embed="rId2" cstate="print"/>
          <a:srcRect/>
          <a:stretch>
            <a:fillRect/>
          </a:stretch>
        </p:blipFill>
        <p:spPr bwMode="auto">
          <a:xfrm>
            <a:off x="2643174" y="714356"/>
            <a:ext cx="3071834" cy="2024851"/>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285728"/>
            <a:ext cx="8501122" cy="6286543"/>
          </a:xfrm>
        </p:spPr>
        <p:txBody>
          <a:bodyPr>
            <a:normAutofit fontScale="90000"/>
          </a:bodyPr>
          <a:lstStyle/>
          <a:p>
            <a:pPr algn="l"/>
            <a:r>
              <a:rPr lang="en-GB" sz="2400" b="1" dirty="0" smtClean="0"/>
              <a:t>                                                 </a:t>
            </a:r>
            <a:r>
              <a:rPr lang="en-GB" sz="2700" b="1" dirty="0" smtClean="0"/>
              <a:t>Question 14</a:t>
            </a:r>
            <a:br>
              <a:rPr lang="en-GB" sz="2700" b="1" dirty="0" smtClean="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smtClean="0"/>
              <a:t/>
            </a:r>
            <a:br>
              <a:rPr lang="en-GB" sz="2700" b="1" dirty="0" smtClean="0"/>
            </a:br>
            <a:r>
              <a:rPr lang="en-GB" sz="2700" b="1" dirty="0" smtClean="0"/>
              <a:t>This power-driven vessel is engaged in parasailing activity and is off your port bow at a distance of about 200 metres. There is risk of collision. Which one of the following statements is TRUE in respect of this situation?</a:t>
            </a:r>
            <a:br>
              <a:rPr lang="en-GB" sz="2700" b="1" dirty="0" smtClean="0"/>
            </a:br>
            <a:r>
              <a:rPr lang="en-GB" sz="2700" b="1" dirty="0" smtClean="0"/>
              <a:t/>
            </a:r>
            <a:br>
              <a:rPr lang="en-GB" sz="2700" b="1" dirty="0" smtClean="0"/>
            </a:br>
            <a:r>
              <a:rPr lang="en-GB" sz="2700" b="1" dirty="0" smtClean="0"/>
              <a:t>A    </a:t>
            </a:r>
            <a:r>
              <a:rPr lang="en-GB" sz="2700" dirty="0" smtClean="0"/>
              <a:t>the parasailing vessel has right of way</a:t>
            </a:r>
            <a:r>
              <a:rPr lang="en-GB" sz="2700" b="1" dirty="0" smtClean="0"/>
              <a:t/>
            </a:r>
            <a:br>
              <a:rPr lang="en-GB" sz="2700" b="1" dirty="0" smtClean="0"/>
            </a:br>
            <a:r>
              <a:rPr lang="en-GB" sz="2700" b="1" dirty="0" smtClean="0"/>
              <a:t>B    </a:t>
            </a:r>
            <a:r>
              <a:rPr lang="en-GB" sz="2700" dirty="0" smtClean="0"/>
              <a:t>your vessel is the stand on vessel</a:t>
            </a:r>
            <a:r>
              <a:rPr lang="en-GB" sz="2700" b="1" dirty="0" smtClean="0"/>
              <a:t/>
            </a:r>
            <a:br>
              <a:rPr lang="en-GB" sz="2700" b="1" dirty="0" smtClean="0"/>
            </a:br>
            <a:r>
              <a:rPr lang="en-GB" sz="2700" b="1" dirty="0" smtClean="0"/>
              <a:t>C    </a:t>
            </a:r>
            <a:r>
              <a:rPr lang="en-GB" sz="2700" dirty="0" smtClean="0"/>
              <a:t>you need to sound two short blasts and alter course to port</a:t>
            </a:r>
            <a:r>
              <a:rPr lang="en-GB" sz="2700" b="1" dirty="0" smtClean="0"/>
              <a:t/>
            </a:r>
            <a:br>
              <a:rPr lang="en-GB" sz="2700" b="1" dirty="0" smtClean="0"/>
            </a:br>
            <a:r>
              <a:rPr lang="en-GB" sz="2700" b="1" dirty="0" smtClean="0"/>
              <a:t>D    </a:t>
            </a:r>
            <a:r>
              <a:rPr lang="en-GB" sz="2700" dirty="0" smtClean="0"/>
              <a:t>the parasailing vessel is restricted in her ability to manoeuvre</a:t>
            </a:r>
            <a:endParaRPr lang="en-GB" sz="2700" b="1" dirty="0"/>
          </a:p>
        </p:txBody>
      </p:sp>
      <p:sp>
        <p:nvSpPr>
          <p:cNvPr id="3" name="Subtitle 2"/>
          <p:cNvSpPr>
            <a:spLocks noGrp="1"/>
          </p:cNvSpPr>
          <p:nvPr>
            <p:ph type="subTitle" idx="1"/>
          </p:nvPr>
        </p:nvSpPr>
        <p:spPr>
          <a:xfrm flipH="1">
            <a:off x="10644230" y="3886200"/>
            <a:ext cx="571504" cy="1752600"/>
          </a:xfrm>
        </p:spPr>
        <p:txBody>
          <a:bodyPr/>
          <a:lstStyle/>
          <a:p>
            <a:endParaRPr lang="en-GB" dirty="0"/>
          </a:p>
        </p:txBody>
      </p:sp>
      <p:pic>
        <p:nvPicPr>
          <p:cNvPr id="8194" name="Picture 2" descr="H:\Parasail1L.jpg"/>
          <p:cNvPicPr>
            <a:picLocks noChangeAspect="1" noChangeArrowheads="1"/>
          </p:cNvPicPr>
          <p:nvPr/>
        </p:nvPicPr>
        <p:blipFill>
          <a:blip r:embed="rId2"/>
          <a:srcRect/>
          <a:stretch>
            <a:fillRect/>
          </a:stretch>
        </p:blipFill>
        <p:spPr bwMode="auto">
          <a:xfrm>
            <a:off x="2857488" y="928670"/>
            <a:ext cx="3621779" cy="2428892"/>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fontScale="90000"/>
          </a:bodyPr>
          <a:lstStyle/>
          <a:p>
            <a:pPr algn="l"/>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
            </a:r>
            <a:br>
              <a:rPr lang="en-GB" sz="2400" b="1" dirty="0" smtClean="0"/>
            </a:br>
            <a:r>
              <a:rPr lang="en-GB" sz="2700" b="1" dirty="0" smtClean="0"/>
              <a:t>                                                Question 15</a:t>
            </a:r>
            <a:r>
              <a:rPr lang="en-GB" sz="2400" b="1" dirty="0" smtClean="0"/>
              <a:t/>
            </a:r>
            <a:br>
              <a:rPr lang="en-GB" sz="2400" b="1" dirty="0" smtClean="0"/>
            </a:br>
            <a:r>
              <a:rPr lang="en-GB" sz="2700" b="1" dirty="0" smtClean="0"/>
              <a:t>This tanker is right ahead of you and distance is  gradually decreasing. There is risk of collision. It follows that</a:t>
            </a:r>
            <a:br>
              <a:rPr lang="en-GB" sz="2700" b="1" dirty="0" smtClean="0"/>
            </a:br>
            <a:r>
              <a:rPr lang="en-GB" sz="2700" b="1" dirty="0" smtClean="0"/>
              <a:t/>
            </a:r>
            <a:br>
              <a:rPr lang="en-GB" sz="2700" b="1" dirty="0" smtClean="0"/>
            </a:br>
            <a:r>
              <a:rPr lang="en-GB" sz="2700" b="1" dirty="0" smtClean="0"/>
              <a:t>A  </a:t>
            </a:r>
            <a:r>
              <a:rPr lang="en-GB" sz="2700" dirty="0" smtClean="0"/>
              <a:t>you have to sound three short blasts and alter course to port</a:t>
            </a:r>
            <a:r>
              <a:rPr lang="en-GB" sz="2700" b="1" dirty="0" smtClean="0"/>
              <a:t/>
            </a:r>
            <a:br>
              <a:rPr lang="en-GB" sz="2700" b="1" dirty="0" smtClean="0"/>
            </a:br>
            <a:r>
              <a:rPr lang="en-GB" sz="2700" b="1" dirty="0" smtClean="0"/>
              <a:t>B  </a:t>
            </a:r>
            <a:r>
              <a:rPr lang="en-GB" sz="2700" dirty="0" smtClean="0"/>
              <a:t>you are the overtaken vessel</a:t>
            </a:r>
            <a:r>
              <a:rPr lang="en-GB" sz="2700" b="1" dirty="0" smtClean="0"/>
              <a:t/>
            </a:r>
            <a:br>
              <a:rPr lang="en-GB" sz="2700" b="1" dirty="0" smtClean="0"/>
            </a:br>
            <a:r>
              <a:rPr lang="en-GB" sz="2700" b="1" dirty="0" smtClean="0"/>
              <a:t>C  </a:t>
            </a:r>
            <a:r>
              <a:rPr lang="en-GB" sz="2700" dirty="0" smtClean="0"/>
              <a:t>you should take action to prevent a collision</a:t>
            </a:r>
            <a:r>
              <a:rPr lang="en-GB" sz="2700" b="1" dirty="0" smtClean="0"/>
              <a:t/>
            </a:r>
            <a:br>
              <a:rPr lang="en-GB" sz="2700" b="1" dirty="0" smtClean="0"/>
            </a:br>
            <a:r>
              <a:rPr lang="en-GB" sz="2700" b="1" dirty="0" smtClean="0"/>
              <a:t>D  </a:t>
            </a:r>
            <a:r>
              <a:rPr lang="en-GB" sz="2700" dirty="0" smtClean="0"/>
              <a:t>you cannot alter course to starboard</a:t>
            </a:r>
            <a:r>
              <a:rPr lang="en-GB" sz="2700" b="1" dirty="0" smtClean="0"/>
              <a:t/>
            </a:r>
            <a:br>
              <a:rPr lang="en-GB" sz="2700" b="1" dirty="0" smtClean="0"/>
            </a:br>
            <a:r>
              <a:rPr lang="en-GB" dirty="0"/>
              <a:t/>
            </a:r>
            <a:br>
              <a:rPr lang="en-GB" dirty="0"/>
            </a:br>
            <a:r>
              <a:rPr lang="en-GB" dirty="0" smtClean="0"/>
              <a:t/>
            </a:r>
            <a:br>
              <a:rPr lang="en-GB" dirty="0" smtClean="0"/>
            </a:br>
            <a:r>
              <a:rPr lang="en-GB" dirty="0" smtClean="0"/>
              <a:t> </a:t>
            </a:r>
            <a:endParaRPr lang="en-GB" dirty="0"/>
          </a:p>
        </p:txBody>
      </p:sp>
      <p:sp>
        <p:nvSpPr>
          <p:cNvPr id="3" name="Subtitle 2"/>
          <p:cNvSpPr>
            <a:spLocks noGrp="1"/>
          </p:cNvSpPr>
          <p:nvPr>
            <p:ph type="subTitle" idx="1"/>
          </p:nvPr>
        </p:nvSpPr>
        <p:spPr>
          <a:xfrm flipH="1">
            <a:off x="9715536" y="3886200"/>
            <a:ext cx="928694" cy="1752600"/>
          </a:xfrm>
        </p:spPr>
        <p:txBody>
          <a:bodyPr/>
          <a:lstStyle/>
          <a:p>
            <a:endParaRPr lang="en-GB" dirty="0"/>
          </a:p>
        </p:txBody>
      </p:sp>
      <p:pic>
        <p:nvPicPr>
          <p:cNvPr id="9218" name="Picture 2" descr="C:\Users\lifebook\Downloads\tanker.jpg"/>
          <p:cNvPicPr>
            <a:picLocks noChangeAspect="1" noChangeArrowheads="1"/>
          </p:cNvPicPr>
          <p:nvPr/>
        </p:nvPicPr>
        <p:blipFill>
          <a:blip r:embed="rId2"/>
          <a:srcRect/>
          <a:stretch>
            <a:fillRect/>
          </a:stretch>
        </p:blipFill>
        <p:spPr bwMode="auto">
          <a:xfrm>
            <a:off x="1714480" y="357166"/>
            <a:ext cx="5470769" cy="250033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429684" cy="6215105"/>
          </a:xfrm>
        </p:spPr>
        <p:txBody>
          <a:bodyPr>
            <a:normAutofit fontScale="90000"/>
          </a:bodyPr>
          <a:lstStyle/>
          <a:p>
            <a:pPr algn="l"/>
            <a:r>
              <a:rPr lang="en-GB" sz="2400" b="1" dirty="0" smtClean="0"/>
              <a:t>                                                    Question 16</a:t>
            </a:r>
            <a:r>
              <a:rPr lang="en-GB" sz="2400" b="1" dirty="0"/>
              <a:t/>
            </a:r>
            <a:br>
              <a:rPr lang="en-GB" sz="2400" b="1" dirty="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This sailing vessel is off your port bow and you cannot make out if she is also being propelled by engine. She is maintaining her course and speed and there is risk of collision. What is the best action to be taken being given you are operating a power-driven vessel?</a:t>
            </a:r>
            <a:br>
              <a:rPr lang="en-GB" sz="2400" b="1" dirty="0" smtClean="0"/>
            </a:br>
            <a:r>
              <a:rPr lang="en-GB" sz="2400" b="1" dirty="0" smtClean="0"/>
              <a:t/>
            </a:r>
            <a:br>
              <a:rPr lang="en-GB" sz="2400" b="1" dirty="0" smtClean="0"/>
            </a:br>
            <a:r>
              <a:rPr lang="en-GB" sz="2400" b="1" dirty="0" smtClean="0"/>
              <a:t>A  </a:t>
            </a:r>
            <a:r>
              <a:rPr lang="en-GB" sz="2400" dirty="0" smtClean="0"/>
              <a:t>sound three short blasts and engage astern propulsion</a:t>
            </a:r>
            <a:r>
              <a:rPr lang="en-GB" sz="2400" b="1" dirty="0" smtClean="0"/>
              <a:t/>
            </a:r>
            <a:br>
              <a:rPr lang="en-GB" sz="2400" b="1" dirty="0" smtClean="0"/>
            </a:br>
            <a:r>
              <a:rPr lang="en-GB" sz="2400" b="1" dirty="0" smtClean="0"/>
              <a:t>B  </a:t>
            </a:r>
            <a:r>
              <a:rPr lang="en-GB" sz="2400" dirty="0" smtClean="0"/>
              <a:t>sound two short blasts and make a bold alteration of course to starboard to keep well clear of her</a:t>
            </a:r>
            <a:r>
              <a:rPr lang="en-GB" sz="2400" b="1" dirty="0" smtClean="0"/>
              <a:t/>
            </a:r>
            <a:br>
              <a:rPr lang="en-GB" sz="2400" b="1" dirty="0" smtClean="0"/>
            </a:br>
            <a:r>
              <a:rPr lang="en-GB" sz="2400" b="1" dirty="0" smtClean="0"/>
              <a:t>C  </a:t>
            </a:r>
            <a:r>
              <a:rPr lang="en-GB" sz="2400" dirty="0" smtClean="0"/>
              <a:t>sound two short blasts and make a bold alteration of course to port to keep well clear of her</a:t>
            </a:r>
            <a:r>
              <a:rPr lang="en-GB" sz="2400" b="1" dirty="0" smtClean="0"/>
              <a:t/>
            </a:r>
            <a:br>
              <a:rPr lang="en-GB" sz="2400" b="1" dirty="0" smtClean="0"/>
            </a:br>
            <a:r>
              <a:rPr lang="en-GB" sz="2400" b="1" dirty="0" smtClean="0"/>
              <a:t>D  </a:t>
            </a:r>
            <a:r>
              <a:rPr lang="en-GB" sz="2400" dirty="0" smtClean="0"/>
              <a:t>increase speed and pass ahead of her</a:t>
            </a:r>
            <a:r>
              <a:rPr lang="en-GB" sz="2400" b="1" dirty="0" smtClean="0"/>
              <a:t/>
            </a:r>
            <a:br>
              <a:rPr lang="en-GB" sz="2400" b="1" dirty="0" smtClean="0"/>
            </a:br>
            <a:endParaRPr lang="en-GB" sz="2400" b="1" dirty="0"/>
          </a:p>
        </p:txBody>
      </p:sp>
      <p:sp>
        <p:nvSpPr>
          <p:cNvPr id="3" name="Subtitle 2"/>
          <p:cNvSpPr>
            <a:spLocks noGrp="1"/>
          </p:cNvSpPr>
          <p:nvPr>
            <p:ph type="subTitle" idx="1"/>
          </p:nvPr>
        </p:nvSpPr>
        <p:spPr>
          <a:xfrm flipH="1">
            <a:off x="9572660" y="3886200"/>
            <a:ext cx="1285884" cy="1752600"/>
          </a:xfrm>
        </p:spPr>
        <p:txBody>
          <a:bodyPr/>
          <a:lstStyle/>
          <a:p>
            <a:endParaRPr lang="en-GB" dirty="0"/>
          </a:p>
        </p:txBody>
      </p:sp>
      <p:pic>
        <p:nvPicPr>
          <p:cNvPr id="10242" name="Picture 2" descr="C:\Users\lifebook\Downloads\adworld4.jpg"/>
          <p:cNvPicPr>
            <a:picLocks noChangeAspect="1" noChangeArrowheads="1"/>
          </p:cNvPicPr>
          <p:nvPr/>
        </p:nvPicPr>
        <p:blipFill>
          <a:blip r:embed="rId2"/>
          <a:srcRect/>
          <a:stretch>
            <a:fillRect/>
          </a:stretch>
        </p:blipFill>
        <p:spPr bwMode="auto">
          <a:xfrm>
            <a:off x="3286117" y="285729"/>
            <a:ext cx="2171715" cy="2714644"/>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6"/>
            <a:ext cx="8358246" cy="6215105"/>
          </a:xfrm>
        </p:spPr>
        <p:txBody>
          <a:bodyPr>
            <a:normAutofit fontScale="90000"/>
          </a:bodyPr>
          <a:lstStyle/>
          <a:p>
            <a:pPr algn="l"/>
            <a:r>
              <a:rPr lang="en-GB" sz="2400" b="1" dirty="0" smtClean="0"/>
              <a:t>                                                      Question 17</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These lights are visual to you at night at a distance of 2 nautical miles off your port bow. There is risk of collision. What is the best action to be taken to avoid a collision?</a:t>
            </a:r>
            <a:br>
              <a:rPr lang="en-GB" sz="2400" b="1" dirty="0" smtClean="0"/>
            </a:br>
            <a:r>
              <a:rPr lang="en-GB" sz="2400" b="1" dirty="0" smtClean="0"/>
              <a:t/>
            </a:r>
            <a:br>
              <a:rPr lang="en-GB" sz="2400" b="1" dirty="0" smtClean="0"/>
            </a:br>
            <a:r>
              <a:rPr lang="en-GB" sz="2400" b="1" dirty="0" smtClean="0"/>
              <a:t>A </a:t>
            </a:r>
            <a:r>
              <a:rPr lang="en-GB" sz="2400" dirty="0" smtClean="0"/>
              <a:t> alter course to port by at least 60 degrees to pass astern of her</a:t>
            </a:r>
            <a:r>
              <a:rPr lang="en-GB" sz="2400" b="1" dirty="0" smtClean="0"/>
              <a:t/>
            </a:r>
            <a:br>
              <a:rPr lang="en-GB" sz="2400" b="1" dirty="0" smtClean="0"/>
            </a:br>
            <a:r>
              <a:rPr lang="en-GB" sz="2400" b="1" dirty="0" smtClean="0"/>
              <a:t>B   </a:t>
            </a:r>
            <a:r>
              <a:rPr lang="en-GB" sz="2400" dirty="0" smtClean="0"/>
              <a:t>alter course either to port or to starboard because she is aground</a:t>
            </a:r>
            <a:r>
              <a:rPr lang="en-GB" sz="2400" b="1" dirty="0" smtClean="0"/>
              <a:t/>
            </a:r>
            <a:br>
              <a:rPr lang="en-GB" sz="2400" b="1" dirty="0" smtClean="0"/>
            </a:br>
            <a:r>
              <a:rPr lang="en-GB" sz="2400" b="1" dirty="0" smtClean="0"/>
              <a:t>C   </a:t>
            </a:r>
            <a:r>
              <a:rPr lang="en-GB" sz="2400" dirty="0" smtClean="0"/>
              <a:t> alter course to starboard by at least 60 degrees since she is at anchor and engaged in some work</a:t>
            </a:r>
            <a:r>
              <a:rPr lang="en-GB" sz="2400" b="1" dirty="0" smtClean="0"/>
              <a:t/>
            </a:r>
            <a:br>
              <a:rPr lang="en-GB" sz="2400" b="1" dirty="0" smtClean="0"/>
            </a:br>
            <a:r>
              <a:rPr lang="en-GB" sz="2400" b="1" dirty="0" smtClean="0"/>
              <a:t>D   </a:t>
            </a:r>
            <a:r>
              <a:rPr lang="en-GB" sz="2400" dirty="0" smtClean="0"/>
              <a:t>stop engines and engage astern propulsion</a:t>
            </a:r>
            <a:endParaRPr lang="en-GB" sz="2400" b="1" dirty="0"/>
          </a:p>
        </p:txBody>
      </p:sp>
      <p:sp>
        <p:nvSpPr>
          <p:cNvPr id="3" name="Subtitle 2"/>
          <p:cNvSpPr>
            <a:spLocks noGrp="1"/>
          </p:cNvSpPr>
          <p:nvPr>
            <p:ph type="subTitle" idx="1"/>
          </p:nvPr>
        </p:nvSpPr>
        <p:spPr>
          <a:xfrm flipH="1">
            <a:off x="9786974" y="3886200"/>
            <a:ext cx="571504" cy="1752600"/>
          </a:xfrm>
        </p:spPr>
        <p:txBody>
          <a:bodyPr/>
          <a:lstStyle/>
          <a:p>
            <a:endParaRPr lang="en-GB" dirty="0"/>
          </a:p>
        </p:txBody>
      </p:sp>
      <p:pic>
        <p:nvPicPr>
          <p:cNvPr id="11266" name="Picture 2" descr="C:\Users\lifebook\Downloads\CBD.jpg"/>
          <p:cNvPicPr>
            <a:picLocks noChangeAspect="1" noChangeArrowheads="1"/>
          </p:cNvPicPr>
          <p:nvPr/>
        </p:nvPicPr>
        <p:blipFill>
          <a:blip r:embed="rId2"/>
          <a:srcRect/>
          <a:stretch>
            <a:fillRect/>
          </a:stretch>
        </p:blipFill>
        <p:spPr bwMode="auto">
          <a:xfrm>
            <a:off x="3357554" y="1000108"/>
            <a:ext cx="2643206" cy="2162623"/>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7158" y="357167"/>
            <a:ext cx="8429684" cy="6215106"/>
          </a:xfrm>
        </p:spPr>
        <p:txBody>
          <a:bodyPr>
            <a:normAutofit fontScale="90000"/>
          </a:bodyPr>
          <a:lstStyle/>
          <a:p>
            <a:pPr algn="l"/>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t>
            </a:r>
            <a:r>
              <a:rPr lang="en-GB" sz="2700" b="1" dirty="0" smtClean="0"/>
              <a:t>Question 18</a:t>
            </a:r>
            <a:br>
              <a:rPr lang="en-GB" sz="2700" b="1" dirty="0" smtClean="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smtClean="0"/>
              <a:t>This vessel is showing a black cylinder by day . It means that she is</a:t>
            </a:r>
            <a:br>
              <a:rPr lang="en-GB" sz="2700" b="1" dirty="0" smtClean="0"/>
            </a:br>
            <a:r>
              <a:rPr lang="en-GB" sz="2700" b="1" dirty="0" smtClean="0"/>
              <a:t/>
            </a:r>
            <a:br>
              <a:rPr lang="en-GB" sz="2700" b="1" dirty="0" smtClean="0"/>
            </a:br>
            <a:r>
              <a:rPr lang="en-GB" sz="2700" b="1" dirty="0" smtClean="0"/>
              <a:t>A   </a:t>
            </a:r>
            <a:r>
              <a:rPr lang="en-GB" sz="2700" dirty="0" smtClean="0"/>
              <a:t> at anchor</a:t>
            </a:r>
            <a:r>
              <a:rPr lang="en-GB" sz="2700" b="1" dirty="0" smtClean="0"/>
              <a:t/>
            </a:r>
            <a:br>
              <a:rPr lang="en-GB" sz="2700" b="1" dirty="0" smtClean="0"/>
            </a:br>
            <a:r>
              <a:rPr lang="en-GB" sz="2700" b="1" dirty="0" smtClean="0"/>
              <a:t>B   </a:t>
            </a:r>
            <a:r>
              <a:rPr lang="en-GB" sz="2700" dirty="0" smtClean="0"/>
              <a:t> aground</a:t>
            </a:r>
            <a:r>
              <a:rPr lang="en-GB" sz="2700" b="1" dirty="0" smtClean="0"/>
              <a:t/>
            </a:r>
            <a:br>
              <a:rPr lang="en-GB" sz="2700" b="1" dirty="0" smtClean="0"/>
            </a:br>
            <a:r>
              <a:rPr lang="en-GB" sz="2700" b="1" dirty="0" smtClean="0"/>
              <a:t>C   </a:t>
            </a:r>
            <a:r>
              <a:rPr lang="en-GB" sz="2700" dirty="0" smtClean="0"/>
              <a:t>restricted in her ability to manoeuvre</a:t>
            </a:r>
            <a:r>
              <a:rPr lang="en-GB" sz="2700" b="1" dirty="0" smtClean="0"/>
              <a:t/>
            </a:r>
            <a:br>
              <a:rPr lang="en-GB" sz="2700" b="1" dirty="0" smtClean="0"/>
            </a:br>
            <a:r>
              <a:rPr lang="en-GB" sz="2700" b="1" dirty="0" smtClean="0"/>
              <a:t>D  </a:t>
            </a:r>
            <a:r>
              <a:rPr lang="en-GB" sz="2700" dirty="0" smtClean="0"/>
              <a:t>constrained by her draught</a:t>
            </a: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700" b="1" dirty="0"/>
              <a:t/>
            </a:r>
            <a:br>
              <a:rPr lang="en-GB" sz="2700" b="1" dirty="0"/>
            </a:br>
            <a:r>
              <a:rPr lang="en-GB" sz="2700" b="1" dirty="0" smtClean="0"/>
              <a:t/>
            </a:r>
            <a:br>
              <a:rPr lang="en-GB" sz="27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endParaRPr lang="en-GB" sz="2400" b="1" dirty="0"/>
          </a:p>
        </p:txBody>
      </p:sp>
      <p:sp>
        <p:nvSpPr>
          <p:cNvPr id="3" name="Subtitle 2"/>
          <p:cNvSpPr>
            <a:spLocks noGrp="1"/>
          </p:cNvSpPr>
          <p:nvPr>
            <p:ph type="subTitle" idx="1"/>
          </p:nvPr>
        </p:nvSpPr>
        <p:spPr>
          <a:xfrm>
            <a:off x="10501354" y="3886200"/>
            <a:ext cx="71438" cy="1752600"/>
          </a:xfrm>
        </p:spPr>
        <p:txBody>
          <a:bodyPr/>
          <a:lstStyle/>
          <a:p>
            <a:endParaRPr lang="en-GB" dirty="0"/>
          </a:p>
        </p:txBody>
      </p:sp>
      <p:pic>
        <p:nvPicPr>
          <p:cNvPr id="12290" name="Picture 2" descr="C:\Users\lifebook\Downloads\mugbal_shoka.gif"/>
          <p:cNvPicPr>
            <a:picLocks noChangeAspect="1" noChangeArrowheads="1"/>
          </p:cNvPicPr>
          <p:nvPr/>
        </p:nvPicPr>
        <p:blipFill>
          <a:blip r:embed="rId2"/>
          <a:srcRect/>
          <a:stretch>
            <a:fillRect/>
          </a:stretch>
        </p:blipFill>
        <p:spPr bwMode="auto">
          <a:xfrm>
            <a:off x="1785918" y="857232"/>
            <a:ext cx="4714908" cy="250033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0"/>
            <a:ext cx="8501122" cy="6572271"/>
          </a:xfrm>
        </p:spPr>
        <p:txBody>
          <a:bodyPr>
            <a:normAutofit/>
          </a:bodyPr>
          <a:lstStyle/>
          <a:p>
            <a:pPr algn="l"/>
            <a:r>
              <a:rPr lang="en-GB" sz="2400" b="1" dirty="0" smtClean="0"/>
              <a:t>                                                   Question 19</a:t>
            </a:r>
            <a:r>
              <a:rPr lang="en-GB" sz="2400" b="1" dirty="0"/>
              <a:t/>
            </a:r>
            <a:br>
              <a:rPr lang="en-GB" sz="2400" b="1" dirty="0"/>
            </a:br>
            <a:r>
              <a:rPr lang="en-GB" sz="2400" b="1" dirty="0"/>
              <a:t/>
            </a:r>
            <a:br>
              <a:rPr lang="en-GB" sz="2400" b="1" dirty="0"/>
            </a:br>
            <a:r>
              <a:rPr lang="en-GB" sz="2400" b="1" dirty="0" smtClean="0"/>
              <a:t>What is the recommended angle of approach when manoeuvring a craft to come alongside a jetty ?</a:t>
            </a:r>
            <a:br>
              <a:rPr lang="en-GB" sz="2400" b="1" dirty="0" smtClean="0"/>
            </a:br>
            <a:r>
              <a:rPr lang="en-GB" sz="2400" b="1" dirty="0" smtClean="0"/>
              <a:t/>
            </a:r>
            <a:br>
              <a:rPr lang="en-GB" sz="2400" b="1" dirty="0" smtClean="0"/>
            </a:br>
            <a:r>
              <a:rPr lang="en-GB" sz="2400" b="1" dirty="0" smtClean="0"/>
              <a:t>A    </a:t>
            </a:r>
            <a:r>
              <a:rPr lang="en-GB" sz="2400" dirty="0" smtClean="0"/>
              <a:t>15 degrees</a:t>
            </a:r>
            <a:br>
              <a:rPr lang="en-GB" sz="2400" dirty="0" smtClean="0"/>
            </a:br>
            <a:r>
              <a:rPr lang="en-GB" sz="2400" b="1" dirty="0" smtClean="0"/>
              <a:t/>
            </a:r>
            <a:br>
              <a:rPr lang="en-GB" sz="2400" b="1" dirty="0" smtClean="0"/>
            </a:br>
            <a:r>
              <a:rPr lang="en-GB" sz="2400" b="1" dirty="0" smtClean="0"/>
              <a:t>B   </a:t>
            </a:r>
            <a:r>
              <a:rPr lang="en-GB" sz="2400" dirty="0" smtClean="0"/>
              <a:t> 30 degrees</a:t>
            </a:r>
            <a:br>
              <a:rPr lang="en-GB" sz="2400" dirty="0" smtClean="0"/>
            </a:br>
            <a:r>
              <a:rPr lang="en-GB" sz="2400" b="1" dirty="0" smtClean="0"/>
              <a:t/>
            </a:r>
            <a:br>
              <a:rPr lang="en-GB" sz="2400" b="1" dirty="0" smtClean="0"/>
            </a:br>
            <a:r>
              <a:rPr lang="en-GB" sz="2400" b="1" dirty="0" smtClean="0"/>
              <a:t>C   </a:t>
            </a:r>
            <a:r>
              <a:rPr lang="en-GB" sz="2400" dirty="0" smtClean="0"/>
              <a:t> 45 degrees</a:t>
            </a:r>
            <a:br>
              <a:rPr lang="en-GB" sz="2400" dirty="0" smtClean="0"/>
            </a:br>
            <a:r>
              <a:rPr lang="en-GB" sz="2400" b="1" dirty="0" smtClean="0"/>
              <a:t/>
            </a:r>
            <a:br>
              <a:rPr lang="en-GB" sz="2400" b="1" dirty="0" smtClean="0"/>
            </a:br>
            <a:r>
              <a:rPr lang="en-GB" sz="2400" b="1" dirty="0" smtClean="0"/>
              <a:t>D    </a:t>
            </a:r>
            <a:r>
              <a:rPr lang="en-GB" sz="2400" dirty="0" smtClean="0"/>
              <a:t>60 degrees</a:t>
            </a:r>
            <a:r>
              <a:rPr lang="en-GB" sz="2400" b="1" dirty="0" smtClean="0"/>
              <a:t/>
            </a:r>
            <a:br>
              <a:rPr lang="en-GB" sz="2400" b="1" dirty="0" smtClean="0"/>
            </a:br>
            <a:r>
              <a:rPr lang="en-GB" sz="2400" b="1" dirty="0" smtClean="0"/>
              <a:t/>
            </a:r>
            <a:br>
              <a:rPr lang="en-GB" sz="2400" b="1" dirty="0" smtClean="0"/>
            </a:br>
            <a:r>
              <a:rPr lang="en-GB" sz="2400" b="1" dirty="0"/>
              <a:t/>
            </a:r>
            <a:br>
              <a:rPr lang="en-GB" sz="2400" b="1" dirty="0"/>
            </a:br>
            <a:endParaRPr lang="en-GB" sz="2400" b="1" dirty="0"/>
          </a:p>
        </p:txBody>
      </p:sp>
      <p:sp>
        <p:nvSpPr>
          <p:cNvPr id="3" name="Subtitle 2"/>
          <p:cNvSpPr>
            <a:spLocks noGrp="1"/>
          </p:cNvSpPr>
          <p:nvPr>
            <p:ph type="subTitle" idx="1"/>
          </p:nvPr>
        </p:nvSpPr>
        <p:spPr>
          <a:xfrm flipH="1">
            <a:off x="9501222" y="3886200"/>
            <a:ext cx="1428760" cy="1752600"/>
          </a:xfrm>
        </p:spPr>
        <p:txBody>
          <a:bodyPr/>
          <a:lstStyle/>
          <a:p>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142852"/>
            <a:ext cx="8572560" cy="6429421"/>
          </a:xfrm>
        </p:spPr>
        <p:txBody>
          <a:bodyPr>
            <a:normAutofit/>
          </a:bodyPr>
          <a:lstStyle/>
          <a:p>
            <a:pPr algn="l"/>
            <a:r>
              <a:rPr lang="en-GB" sz="2400" b="1" dirty="0" smtClean="0"/>
              <a:t>                                              Question 20</a:t>
            </a:r>
            <a:br>
              <a:rPr lang="en-GB" sz="2400" b="1" dirty="0" smtClean="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a:t/>
            </a:r>
            <a:br>
              <a:rPr lang="en-GB" sz="2400" b="1" dirty="0"/>
            </a:br>
            <a:r>
              <a:rPr lang="en-GB" sz="2400" b="1" dirty="0" smtClean="0"/>
              <a:t/>
            </a:r>
            <a:br>
              <a:rPr lang="en-GB" sz="2400" b="1" dirty="0" smtClean="0"/>
            </a:br>
            <a:r>
              <a:rPr lang="en-GB" sz="2400" b="1" dirty="0" smtClean="0"/>
              <a:t>You are entering a harbour keeping these two leading marks in transit on course 032◦ C. Because of tidal current, some minutes later you find that the front leading mark has </a:t>
            </a:r>
            <a:r>
              <a:rPr lang="en-GB" sz="2400" b="1" i="1" dirty="0" smtClean="0"/>
              <a:t>‘moved’ </a:t>
            </a:r>
            <a:r>
              <a:rPr lang="en-GB" sz="2400" b="1" dirty="0" smtClean="0"/>
              <a:t>to the left. It follows that</a:t>
            </a:r>
            <a:br>
              <a:rPr lang="en-GB" sz="2400" b="1" dirty="0" smtClean="0"/>
            </a:br>
            <a:r>
              <a:rPr lang="en-GB" sz="2400" b="1" dirty="0" smtClean="0"/>
              <a:t/>
            </a:r>
            <a:br>
              <a:rPr lang="en-GB" sz="2400" b="1" dirty="0" smtClean="0"/>
            </a:br>
            <a:r>
              <a:rPr lang="en-GB" sz="2400" b="1" dirty="0" smtClean="0"/>
              <a:t>A   </a:t>
            </a:r>
            <a:r>
              <a:rPr lang="en-GB" sz="2400" dirty="0" smtClean="0"/>
              <a:t>your craft is port of track </a:t>
            </a:r>
            <a:r>
              <a:rPr lang="en-GB" sz="2400" b="1" dirty="0" smtClean="0"/>
              <a:t/>
            </a:r>
            <a:br>
              <a:rPr lang="en-GB" sz="2400" b="1" dirty="0" smtClean="0"/>
            </a:br>
            <a:r>
              <a:rPr lang="en-GB" sz="2400" b="1" dirty="0" smtClean="0"/>
              <a:t>B   </a:t>
            </a:r>
            <a:r>
              <a:rPr lang="en-GB" sz="2400" dirty="0" smtClean="0"/>
              <a:t>you should steer a course higher than 032</a:t>
            </a:r>
            <a:r>
              <a:rPr lang="en-GB" sz="2400" b="1" dirty="0" smtClean="0"/>
              <a:t>◦</a:t>
            </a:r>
            <a:r>
              <a:rPr lang="en-GB" sz="2400" dirty="0" smtClean="0"/>
              <a:t> C to regain track</a:t>
            </a:r>
            <a:r>
              <a:rPr lang="en-GB" sz="2400" b="1" dirty="0" smtClean="0"/>
              <a:t/>
            </a:r>
            <a:br>
              <a:rPr lang="en-GB" sz="2400" b="1" dirty="0" smtClean="0"/>
            </a:br>
            <a:r>
              <a:rPr lang="en-GB" sz="2400" b="1" dirty="0" smtClean="0"/>
              <a:t>C   </a:t>
            </a:r>
            <a:r>
              <a:rPr lang="en-GB" sz="2400" dirty="0" smtClean="0"/>
              <a:t>you should steer a course lower than 032</a:t>
            </a:r>
            <a:r>
              <a:rPr lang="en-GB" sz="2400" b="1" dirty="0" smtClean="0"/>
              <a:t>◦ </a:t>
            </a:r>
            <a:r>
              <a:rPr lang="en-GB" sz="2400" dirty="0" smtClean="0"/>
              <a:t>C to regain track</a:t>
            </a:r>
            <a:r>
              <a:rPr lang="en-GB" sz="2400" b="1" dirty="0" smtClean="0"/>
              <a:t/>
            </a:r>
            <a:br>
              <a:rPr lang="en-GB" sz="2400" b="1" dirty="0" smtClean="0"/>
            </a:br>
            <a:r>
              <a:rPr lang="en-GB" sz="2400" b="1" dirty="0" smtClean="0"/>
              <a:t>D   </a:t>
            </a:r>
            <a:r>
              <a:rPr lang="en-GB" sz="2400" dirty="0" smtClean="0"/>
              <a:t>you have to reverse course and start your approach anew</a:t>
            </a:r>
            <a:endParaRPr lang="en-GB" sz="2400" b="1" dirty="0"/>
          </a:p>
        </p:txBody>
      </p:sp>
      <p:sp>
        <p:nvSpPr>
          <p:cNvPr id="3" name="Subtitle 2"/>
          <p:cNvSpPr>
            <a:spLocks noGrp="1"/>
          </p:cNvSpPr>
          <p:nvPr>
            <p:ph type="subTitle" idx="1"/>
          </p:nvPr>
        </p:nvSpPr>
        <p:spPr>
          <a:xfrm flipH="1">
            <a:off x="10429916" y="3886200"/>
            <a:ext cx="571504" cy="1752600"/>
          </a:xfrm>
        </p:spPr>
        <p:txBody>
          <a:bodyPr/>
          <a:lstStyle/>
          <a:p>
            <a:endParaRPr lang="en-GB" dirty="0"/>
          </a:p>
        </p:txBody>
      </p:sp>
      <p:pic>
        <p:nvPicPr>
          <p:cNvPr id="14338" name="Picture 2" descr="C:\Users\lifebook\Downloads\J5-audierne.JPG"/>
          <p:cNvPicPr>
            <a:picLocks noChangeAspect="1" noChangeArrowheads="1"/>
          </p:cNvPicPr>
          <p:nvPr/>
        </p:nvPicPr>
        <p:blipFill>
          <a:blip r:embed="rId2" cstate="print"/>
          <a:srcRect/>
          <a:stretch>
            <a:fillRect/>
          </a:stretch>
        </p:blipFill>
        <p:spPr bwMode="auto">
          <a:xfrm>
            <a:off x="3071802" y="642918"/>
            <a:ext cx="2286016" cy="2581276"/>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389</TotalTime>
  <Words>62</Words>
  <Application>Microsoft Office PowerPoint</Application>
  <PresentationFormat>On-screen Show (4:3)</PresentationFormat>
  <Paragraphs>29</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                                                  Question 1 You are a skipper and also the licensee of  commercial pleasure craft  PC 1081 OL 14. Through which one of the following actions do you contribute to the safety and security of all persons onboard if your craft under charge of another skipper has been hired for a trip to Ilot Gabriel today?  A     verifying that the only operational engine  which is a 40 HP outboard motor is in perfect running condition  B     giving clear instructions to the skipper  that  no more than 14 persons embark the craft excluding himself  C     passing on to the skipper the times of high water and low water      D    advising the skipper never to alter course to port  in any situation at sea</vt:lpstr>
      <vt:lpstr>                                               Question 2 Which one of the following actions by a licensed skipper DOES NOT amount to an offence under the Tourism Authority Act 2006 ?  A  failing to report an accident where his pleasure craft has sustained a damage within 24 hours to the Director of the Tourism Authority  B  failing to give the name and address of the owner of the pleasure craft when so requested by an authorised officer  C  operating a pleasure craft for private purposes when being  only 16 years old  D  operating a pleasure craft at a speed of 12 knots in the channel of Grand River South East </vt:lpstr>
      <vt:lpstr>                                                   Question 3 While standing on the stem of a pleasure craft and facing aft at night, the sternlight shall   A  be visual on your left hand side  B  not be visual  C   be visual on your right hand side  D  be visual but green coloured</vt:lpstr>
      <vt:lpstr>                                                Question 4  Assuming a craft is at sea and her port side is receiving the wind. This side is referred to as  A   the port leeward side  B   the leeward side  C    the port windward side  D   the windward side</vt:lpstr>
      <vt:lpstr>                                                     Question 5            You were heading on Ilot Benoit lighthouse by a gyro compass when suddenly the engine failed. You dropped the anchor and decided to call the NCG for assistance before attempting to rectify the defect. You would report the position of your craft as being A   west of Ilot Benoit lighthouse B   on bearing 022◦ T from Ilot Benoit lighthouse C   south west of Ilot Benoit lighthouse D   east of Ilot Benoit lighthouse</vt:lpstr>
      <vt:lpstr>                                                  Question 6  Your pleasure craft is covering an average distance of 1.2 nautical miles within every 6 minutes. She is then proceeding at an average speed of  A    6 Knots  B   12 knots  C   18 knots  D   24 knots </vt:lpstr>
      <vt:lpstr>                                                    Question 7  If your GPS is showing your position as  00◦ 23 '.123 N     000◦ 14'.701 E, your pleasure craft shall be  A   in the southern hemisphere  B   on a  latitude which is 23.123 nautical miles south of the equator  C   in the northern hemisphere and east of the Greenwich Meridian  D  on a longitude which is west of the Greenwich Meridian subtending an angle of 14.701 minutes at the centre of the earth</vt:lpstr>
      <vt:lpstr>.                                                                                                                   Question 8 You are steering 260 ◦C at 12 knots and you notice this buoy right ahead of you at a distance of  about 500 metres. As a competent skipper, which manoeuvre will you carry out?         A  slow down and alter course  to 200 ◦ C B   increase speed up to 16 knots and pass not less than 50 metres downwind. C   slow down and alter course to 320 ◦ C D  slow down and pass close enough to the buoy but downwind         </vt:lpstr>
      <vt:lpstr>                                                    Question 9       Which statement in respect of this buoy is FALSE?  A    It cannot be seen on high seas B    It has a top mark which is painted black C    It is one of the two lateral buoys D    It is to be left on your port side when proceeding  to high seas from a harbour </vt:lpstr>
      <vt:lpstr>                                                 Question 10   Spring tides are characterised by  A    only one HIGH WATER in 24 hours  B    higher LOW WATERS and lower HIGH WATERS    C    higher HIGH WATERS and lower LOW WATERS  D    weak tidal currents in and out of passes</vt:lpstr>
      <vt:lpstr>                                                Question 11        This sailor is assisting in the safe navigation of the ship by   A    ensuring that the ship is following the correct course B    advising the Deck Watch Officer as to when to alter course to prevent a collision C    reporting presence of other ships or dangers so that  the Deck Watch Officer can assess if there is risk of collision D    reporting  changes in the weather conditions   </vt:lpstr>
      <vt:lpstr>                                    Question 12 Based on the above scenario, it can be deduced at 0812 h that A   vessel B will pass ahead  of vessel A without any risk of collision    B   vessel B needs to sound two short blasts and alter course to port to pass astern of vessel A C   there is high risk of collision  D   vessel A can maintain her course and speed </vt:lpstr>
      <vt:lpstr>                                                 Question 13       This power-driven vessel is 5 degrees off your starboard bow and is maintaining her course and speed. There is risk of collision. What is the best action to be taken to avoid the collision?  A  sound one short blast and alter course to starboard by at least 60 degrees B  sound two short blasts and alter course to port by at least 60 degrees C   sound three short blasts and engage astern propulsion D   sound at least five short and rapid blasts and let go the anchor </vt:lpstr>
      <vt:lpstr>                                                 Question 14         This power-driven vessel is engaged in parasailing activity and is off your port bow at a distance of about 200 metres. There is risk of collision. Which one of the following statements is TRUE in respect of this situation?  A    the parasailing vessel has right of way B    your vessel is the stand on vessel C    you need to sound two short blasts and alter course to port D    the parasailing vessel is restricted in her ability to manoeuvre</vt:lpstr>
      <vt:lpstr>                                                           Question 15 This tanker is right ahead of you and distance is  gradually decreasing. There is risk of collision. It follows that  A  you have to sound three short blasts and alter course to port B  you are the overtaken vessel C  you should take action to prevent a collision D  you cannot alter course to starboard    </vt:lpstr>
      <vt:lpstr>                                                    Question 16         This sailing vessel is off your port bow and you cannot make out if she is also being propelled by engine. She is maintaining her course and speed and there is risk of collision. What is the best action to be taken being given you are operating a power-driven vessel?  A  sound three short blasts and engage astern propulsion B  sound two short blasts and make a bold alteration of course to starboard to keep well clear of her C  sound two short blasts and make a bold alteration of course to port to keep well clear of her D  increase speed and pass ahead of her </vt:lpstr>
      <vt:lpstr>                                                      Question 17         These lights are visual to you at night at a distance of 2 nautical miles off your port bow. There is risk of collision. What is the best action to be taken to avoid a collision?  A  alter course to port by at least 60 degrees to pass astern of her B   alter course either to port or to starboard because she is aground C    alter course to starboard by at least 60 degrees since she is at anchor and engaged in some work D   stop engines and engage astern propulsion</vt:lpstr>
      <vt:lpstr>                                                                 Question 18          This vessel is showing a black cylinder by day . It means that she is  A    at anchor B    aground C   restricted in her ability to manoeuvre D  constrained by her draught               </vt:lpstr>
      <vt:lpstr>                                                   Question 19  What is the recommended angle of approach when manoeuvring a craft to come alongside a jetty ?  A    15 degrees  B    30 degrees  C    45 degrees  D    60 degrees   </vt:lpstr>
      <vt:lpstr>                                              Question 20        You are entering a harbour keeping these two leading marks in transit on course 032◦ C. Because of tidal current, some minutes later you find that the front leading mark has ‘moved’ to the left. It follows that  A   your craft is port of track  B   you should steer a course higher than 032◦ C to regain track C   you should steer a course lower than 032◦ C to regain track D   you have to reverse course and start your approach anew</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Who was the skipper??        </dc:title>
  <dc:creator>lifebook</dc:creator>
  <cp:lastModifiedBy>lifebook</cp:lastModifiedBy>
  <cp:revision>4</cp:revision>
  <dcterms:created xsi:type="dcterms:W3CDTF">2018-02-03T05:03:10Z</dcterms:created>
  <dcterms:modified xsi:type="dcterms:W3CDTF">2018-10-06T03:10:47Z</dcterms:modified>
</cp:coreProperties>
</file>